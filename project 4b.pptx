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rata Chirag" userId="95721d6f6e6b6b94" providerId="LiveId" clId="{4790AC98-7CAE-4AAB-AE53-7A479A001FBE}"/>
    <pc:docChg chg="undo custSel modSld">
      <pc:chgData name="Namrata Chirag" userId="95721d6f6e6b6b94" providerId="LiveId" clId="{4790AC98-7CAE-4AAB-AE53-7A479A001FBE}" dt="2026-06-08T20:49:15.517" v="88" actId="6549"/>
      <pc:docMkLst>
        <pc:docMk/>
      </pc:docMkLst>
      <pc:sldChg chg="modSp mod">
        <pc:chgData name="Namrata Chirag" userId="95721d6f6e6b6b94" providerId="LiveId" clId="{4790AC98-7CAE-4AAB-AE53-7A479A001FBE}" dt="2026-06-08T20:42:40.141" v="1" actId="6549"/>
        <pc:sldMkLst>
          <pc:docMk/>
          <pc:sldMk cId="0" sldId="256"/>
        </pc:sldMkLst>
        <pc:spChg chg="mod">
          <ac:chgData name="Namrata Chirag" userId="95721d6f6e6b6b94" providerId="LiveId" clId="{4790AC98-7CAE-4AAB-AE53-7A479A001FBE}" dt="2026-06-08T20:42:40.141" v="1" actId="6549"/>
          <ac:spMkLst>
            <pc:docMk/>
            <pc:sldMk cId="0" sldId="256"/>
            <ac:spMk id="5" creationId="{00000000-0000-0000-0000-000000000000}"/>
          </ac:spMkLst>
        </pc:spChg>
      </pc:sldChg>
      <pc:sldChg chg="modSp mod">
        <pc:chgData name="Namrata Chirag" userId="95721d6f6e6b6b94" providerId="LiveId" clId="{4790AC98-7CAE-4AAB-AE53-7A479A001FBE}" dt="2026-06-08T20:47:09.931" v="27" actId="14100"/>
        <pc:sldMkLst>
          <pc:docMk/>
          <pc:sldMk cId="0" sldId="265"/>
        </pc:sldMkLst>
        <pc:spChg chg="mod">
          <ac:chgData name="Namrata Chirag" userId="95721d6f6e6b6b94" providerId="LiveId" clId="{4790AC98-7CAE-4AAB-AE53-7A479A001FBE}" dt="2026-06-08T20:46:21.169" v="20" actId="1076"/>
          <ac:spMkLst>
            <pc:docMk/>
            <pc:sldMk cId="0" sldId="265"/>
            <ac:spMk id="5" creationId="{00000000-0000-0000-0000-000000000000}"/>
          </ac:spMkLst>
        </pc:spChg>
        <pc:spChg chg="mod">
          <ac:chgData name="Namrata Chirag" userId="95721d6f6e6b6b94" providerId="LiveId" clId="{4790AC98-7CAE-4AAB-AE53-7A479A001FBE}" dt="2026-06-08T20:46:12.937" v="18" actId="14100"/>
          <ac:spMkLst>
            <pc:docMk/>
            <pc:sldMk cId="0" sldId="265"/>
            <ac:spMk id="7" creationId="{00000000-0000-0000-0000-000000000000}"/>
          </ac:spMkLst>
        </pc:spChg>
        <pc:spChg chg="mod">
          <ac:chgData name="Namrata Chirag" userId="95721d6f6e6b6b94" providerId="LiveId" clId="{4790AC98-7CAE-4AAB-AE53-7A479A001FBE}" dt="2026-06-08T20:44:59.457" v="11" actId="1038"/>
          <ac:spMkLst>
            <pc:docMk/>
            <pc:sldMk cId="0" sldId="265"/>
            <ac:spMk id="8" creationId="{00000000-0000-0000-0000-000000000000}"/>
          </ac:spMkLst>
        </pc:spChg>
        <pc:spChg chg="mod">
          <ac:chgData name="Namrata Chirag" userId="95721d6f6e6b6b94" providerId="LiveId" clId="{4790AC98-7CAE-4AAB-AE53-7A479A001FBE}" dt="2026-06-08T20:46:30.284" v="21" actId="14100"/>
          <ac:spMkLst>
            <pc:docMk/>
            <pc:sldMk cId="0" sldId="265"/>
            <ac:spMk id="10" creationId="{00000000-0000-0000-0000-000000000000}"/>
          </ac:spMkLst>
        </pc:spChg>
        <pc:spChg chg="mod">
          <ac:chgData name="Namrata Chirag" userId="95721d6f6e6b6b94" providerId="LiveId" clId="{4790AC98-7CAE-4AAB-AE53-7A479A001FBE}" dt="2026-06-08T20:45:24.130" v="14" actId="1076"/>
          <ac:spMkLst>
            <pc:docMk/>
            <pc:sldMk cId="0" sldId="265"/>
            <ac:spMk id="11" creationId="{00000000-0000-0000-0000-000000000000}"/>
          </ac:spMkLst>
        </pc:spChg>
        <pc:spChg chg="mod">
          <ac:chgData name="Namrata Chirag" userId="95721d6f6e6b6b94" providerId="LiveId" clId="{4790AC98-7CAE-4AAB-AE53-7A479A001FBE}" dt="2026-06-08T20:46:45.183" v="23" actId="14100"/>
          <ac:spMkLst>
            <pc:docMk/>
            <pc:sldMk cId="0" sldId="265"/>
            <ac:spMk id="13" creationId="{00000000-0000-0000-0000-000000000000}"/>
          </ac:spMkLst>
        </pc:spChg>
        <pc:spChg chg="mod">
          <ac:chgData name="Namrata Chirag" userId="95721d6f6e6b6b94" providerId="LiveId" clId="{4790AC98-7CAE-4AAB-AE53-7A479A001FBE}" dt="2026-06-08T20:46:53.024" v="25" actId="1076"/>
          <ac:spMkLst>
            <pc:docMk/>
            <pc:sldMk cId="0" sldId="265"/>
            <ac:spMk id="14" creationId="{00000000-0000-0000-0000-000000000000}"/>
          </ac:spMkLst>
        </pc:spChg>
        <pc:spChg chg="mod">
          <ac:chgData name="Namrata Chirag" userId="95721d6f6e6b6b94" providerId="LiveId" clId="{4790AC98-7CAE-4AAB-AE53-7A479A001FBE}" dt="2026-06-08T20:47:09.931" v="27" actId="14100"/>
          <ac:spMkLst>
            <pc:docMk/>
            <pc:sldMk cId="0" sldId="265"/>
            <ac:spMk id="16" creationId="{00000000-0000-0000-0000-000000000000}"/>
          </ac:spMkLst>
        </pc:spChg>
      </pc:sldChg>
      <pc:sldChg chg="modSp mod">
        <pc:chgData name="Namrata Chirag" userId="95721d6f6e6b6b94" providerId="LiveId" clId="{4790AC98-7CAE-4AAB-AE53-7A479A001FBE}" dt="2026-06-08T20:47:20.300" v="28" actId="14100"/>
        <pc:sldMkLst>
          <pc:docMk/>
          <pc:sldMk cId="0" sldId="266"/>
        </pc:sldMkLst>
        <pc:spChg chg="mod">
          <ac:chgData name="Namrata Chirag" userId="95721d6f6e6b6b94" providerId="LiveId" clId="{4790AC98-7CAE-4AAB-AE53-7A479A001FBE}" dt="2026-06-08T20:47:20.300" v="28" actId="14100"/>
          <ac:spMkLst>
            <pc:docMk/>
            <pc:sldMk cId="0" sldId="266"/>
            <ac:spMk id="5" creationId="{00000000-0000-0000-0000-000000000000}"/>
          </ac:spMkLst>
        </pc:spChg>
      </pc:sldChg>
      <pc:sldChg chg="modSp mod">
        <pc:chgData name="Namrata Chirag" userId="95721d6f6e6b6b94" providerId="LiveId" clId="{4790AC98-7CAE-4AAB-AE53-7A479A001FBE}" dt="2026-06-08T20:47:55.831" v="31" actId="1076"/>
        <pc:sldMkLst>
          <pc:docMk/>
          <pc:sldMk cId="0" sldId="268"/>
        </pc:sldMkLst>
        <pc:spChg chg="mod">
          <ac:chgData name="Namrata Chirag" userId="95721d6f6e6b6b94" providerId="LiveId" clId="{4790AC98-7CAE-4AAB-AE53-7A479A001FBE}" dt="2026-06-08T20:47:41.666" v="29" actId="14100"/>
          <ac:spMkLst>
            <pc:docMk/>
            <pc:sldMk cId="0" sldId="268"/>
            <ac:spMk id="5" creationId="{00000000-0000-0000-0000-000000000000}"/>
          </ac:spMkLst>
        </pc:spChg>
        <pc:spChg chg="mod">
          <ac:chgData name="Namrata Chirag" userId="95721d6f6e6b6b94" providerId="LiveId" clId="{4790AC98-7CAE-4AAB-AE53-7A479A001FBE}" dt="2026-06-08T20:47:55.831" v="31" actId="1076"/>
          <ac:spMkLst>
            <pc:docMk/>
            <pc:sldMk cId="0" sldId="268"/>
            <ac:spMk id="17" creationId="{00000000-0000-0000-0000-000000000000}"/>
          </ac:spMkLst>
        </pc:spChg>
        <pc:picChg chg="mod">
          <ac:chgData name="Namrata Chirag" userId="95721d6f6e6b6b94" providerId="LiveId" clId="{4790AC98-7CAE-4AAB-AE53-7A479A001FBE}" dt="2026-06-08T20:47:48.590" v="30" actId="14100"/>
          <ac:picMkLst>
            <pc:docMk/>
            <pc:sldMk cId="0" sldId="268"/>
            <ac:picMk id="4" creationId="{00000000-0000-0000-0000-000000000000}"/>
          </ac:picMkLst>
        </pc:picChg>
      </pc:sldChg>
      <pc:sldChg chg="modSp mod">
        <pc:chgData name="Namrata Chirag" userId="95721d6f6e6b6b94" providerId="LiveId" clId="{4790AC98-7CAE-4AAB-AE53-7A479A001FBE}" dt="2026-06-08T20:48:38.857" v="44" actId="20577"/>
        <pc:sldMkLst>
          <pc:docMk/>
          <pc:sldMk cId="0" sldId="269"/>
        </pc:sldMkLst>
        <pc:spChg chg="mod">
          <ac:chgData name="Namrata Chirag" userId="95721d6f6e6b6b94" providerId="LiveId" clId="{4790AC98-7CAE-4AAB-AE53-7A479A001FBE}" dt="2026-06-08T20:48:38.857" v="44" actId="20577"/>
          <ac:spMkLst>
            <pc:docMk/>
            <pc:sldMk cId="0" sldId="269"/>
            <ac:spMk id="12" creationId="{00000000-0000-0000-0000-000000000000}"/>
          </ac:spMkLst>
        </pc:spChg>
      </pc:sldChg>
      <pc:sldChg chg="modSp mod">
        <pc:chgData name="Namrata Chirag" userId="95721d6f6e6b6b94" providerId="LiveId" clId="{4790AC98-7CAE-4AAB-AE53-7A479A001FBE}" dt="2026-06-08T20:49:15.517" v="88" actId="6549"/>
        <pc:sldMkLst>
          <pc:docMk/>
          <pc:sldMk cId="0" sldId="270"/>
        </pc:sldMkLst>
        <pc:spChg chg="mod">
          <ac:chgData name="Namrata Chirag" userId="95721d6f6e6b6b94" providerId="LiveId" clId="{4790AC98-7CAE-4AAB-AE53-7A479A001FBE}" dt="2026-06-08T20:49:15.517" v="88" actId="6549"/>
          <ac:spMkLst>
            <pc:docMk/>
            <pc:sldMk cId="0" sldId="270"/>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518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365760" y="640080"/>
            <a:ext cx="8412480" cy="201168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Exploratory Data Analysis</a:t>
            </a:r>
            <a:endParaRPr lang="en-US" sz="3800" dirty="0"/>
          </a:p>
          <a:p>
            <a:pPr marL="0" indent="0" algn="l">
              <a:buNone/>
            </a:pPr>
            <a:r>
              <a:rPr lang="en-US" sz="3800" b="1" dirty="0">
                <a:solidFill>
                  <a:srgbClr val="FFFFFF"/>
                </a:solidFill>
                <a:latin typeface="Georgia" pitchFamily="34" charset="0"/>
                <a:ea typeface="Georgia" pitchFamily="34" charset="-122"/>
                <a:cs typeface="Georgia" pitchFamily="34" charset="-120"/>
              </a:rPr>
              <a:t>&amp; Supervised Machine Learning</a:t>
            </a:r>
            <a:endParaRPr lang="en-US" sz="3800" dirty="0"/>
          </a:p>
        </p:txBody>
      </p:sp>
      <p:sp>
        <p:nvSpPr>
          <p:cNvPr id="4" name="Shape 2"/>
          <p:cNvSpPr/>
          <p:nvPr/>
        </p:nvSpPr>
        <p:spPr>
          <a:xfrm>
            <a:off x="365760" y="2788920"/>
            <a:ext cx="8412480" cy="27432"/>
          </a:xfrm>
          <a:prstGeom prst="rect">
            <a:avLst/>
          </a:prstGeom>
          <a:solidFill>
            <a:srgbClr val="1C7293"/>
          </a:solidFill>
          <a:ln w="12700">
            <a:solidFill>
              <a:srgbClr val="1C7293"/>
            </a:solidFill>
            <a:prstDash val="solid"/>
          </a:ln>
        </p:spPr>
      </p:sp>
      <p:sp>
        <p:nvSpPr>
          <p:cNvPr id="5" name="Text 3"/>
          <p:cNvSpPr/>
          <p:nvPr/>
        </p:nvSpPr>
        <p:spPr>
          <a:xfrm>
            <a:off x="365760" y="2926080"/>
            <a:ext cx="8412480" cy="502920"/>
          </a:xfrm>
          <a:prstGeom prst="rect">
            <a:avLst/>
          </a:prstGeom>
          <a:noFill/>
          <a:ln/>
        </p:spPr>
        <p:txBody>
          <a:bodyPr wrap="square" rtlCol="0" anchor="ctr"/>
          <a:lstStyle/>
          <a:p>
            <a:pPr marL="0" indent="0" algn="l">
              <a:buNone/>
            </a:pPr>
            <a:endParaRPr lang="en-US" sz="1500" dirty="0"/>
          </a:p>
        </p:txBody>
      </p:sp>
      <p:sp>
        <p:nvSpPr>
          <p:cNvPr id="6" name="Text 4"/>
          <p:cNvSpPr/>
          <p:nvPr/>
        </p:nvSpPr>
        <p:spPr>
          <a:xfrm>
            <a:off x="365760" y="3520440"/>
            <a:ext cx="8412480" cy="365760"/>
          </a:xfrm>
          <a:prstGeom prst="rect">
            <a:avLst/>
          </a:prstGeom>
          <a:noFill/>
          <a:ln/>
        </p:spPr>
        <p:txBody>
          <a:bodyPr wrap="square" rtlCol="0" anchor="ctr"/>
          <a:lstStyle/>
          <a:p>
            <a:pPr marL="0" indent="0" algn="l">
              <a:buNone/>
            </a:pPr>
            <a:r>
              <a:rPr lang="en-US" sz="1300" dirty="0">
                <a:solidFill>
                  <a:srgbClr val="7BAEC8"/>
                </a:solidFill>
                <a:latin typeface="Calibri" pitchFamily="34" charset="0"/>
                <a:ea typeface="Calibri" pitchFamily="34" charset="-122"/>
                <a:cs typeface="Calibri" pitchFamily="34" charset="-120"/>
              </a:rPr>
              <a:t>Univariate  ·  Bivariate  ·  Multivariate Analysis  ·  ML Model Evaluation</a:t>
            </a:r>
            <a:endParaRPr lang="en-US" sz="1300" dirty="0"/>
          </a:p>
        </p:txBody>
      </p:sp>
      <p:sp>
        <p:nvSpPr>
          <p:cNvPr id="7" name="Text 5"/>
          <p:cNvSpPr/>
          <p:nvPr/>
        </p:nvSpPr>
        <p:spPr>
          <a:xfrm>
            <a:off x="365760" y="4160520"/>
            <a:ext cx="8412480" cy="320040"/>
          </a:xfrm>
          <a:prstGeom prst="rect">
            <a:avLst/>
          </a:prstGeom>
          <a:noFill/>
          <a:ln/>
        </p:spPr>
        <p:txBody>
          <a:bodyPr wrap="square" rtlCol="0" anchor="ctr"/>
          <a:lstStyle/>
          <a:p>
            <a:pPr marL="0" indent="0" algn="l">
              <a:buNone/>
            </a:pPr>
            <a:r>
              <a:rPr lang="en-US" sz="1300" b="1" dirty="0">
                <a:solidFill>
                  <a:srgbClr val="A8C8E0"/>
                </a:solidFill>
                <a:latin typeface="Calibri" pitchFamily="34" charset="0"/>
                <a:ea typeface="Calibri" pitchFamily="34" charset="-122"/>
                <a:cs typeface="Calibri" pitchFamily="34" charset="-120"/>
              </a:rPr>
              <a:t>Prepared by: </a:t>
            </a:r>
            <a:r>
              <a:rPr lang="en-US" sz="1300" dirty="0">
                <a:solidFill>
                  <a:srgbClr val="FFFFFF"/>
                </a:solidFill>
                <a:latin typeface="Calibri" pitchFamily="34" charset="0"/>
                <a:ea typeface="Calibri" pitchFamily="34" charset="-122"/>
                <a:cs typeface="Calibri" pitchFamily="34" charset="-120"/>
              </a:rPr>
              <a:t>Namrata Farmer</a:t>
            </a:r>
            <a:endParaRPr lang="en-US" sz="1300" dirty="0"/>
          </a:p>
        </p:txBody>
      </p:sp>
      <p:sp>
        <p:nvSpPr>
          <p:cNvPr id="8" name="Text 6"/>
          <p:cNvSpPr/>
          <p:nvPr/>
        </p:nvSpPr>
        <p:spPr>
          <a:xfrm>
            <a:off x="365760" y="4498848"/>
            <a:ext cx="8412480" cy="320040"/>
          </a:xfrm>
          <a:prstGeom prst="rect">
            <a:avLst/>
          </a:prstGeom>
          <a:noFill/>
          <a:ln/>
        </p:spPr>
        <p:txBody>
          <a:bodyPr wrap="square" rtlCol="0" anchor="ctr"/>
          <a:lstStyle/>
          <a:p>
            <a:pPr marL="0" indent="0" algn="l">
              <a:buNone/>
            </a:pPr>
            <a:r>
              <a:rPr lang="en-US" sz="1300" b="1" dirty="0">
                <a:solidFill>
                  <a:srgbClr val="A8C8E0"/>
                </a:solidFill>
                <a:latin typeface="Calibri" pitchFamily="34" charset="0"/>
                <a:ea typeface="Calibri" pitchFamily="34" charset="-122"/>
                <a:cs typeface="Calibri" pitchFamily="34" charset="-120"/>
              </a:rPr>
              <a:t>Prepared for: </a:t>
            </a:r>
            <a:r>
              <a:rPr lang="en-US" sz="1300" dirty="0">
                <a:solidFill>
                  <a:srgbClr val="FFFFFF"/>
                </a:solidFill>
                <a:latin typeface="Calibri" pitchFamily="34" charset="0"/>
                <a:ea typeface="Calibri" pitchFamily="34" charset="-122"/>
                <a:cs typeface="Calibri" pitchFamily="34" charset="-120"/>
              </a:rPr>
              <a:t>NextHikes IT Solutions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Dataset Overview</a:t>
            </a:r>
            <a:endParaRPr lang="en-US" sz="2600" dirty="0"/>
          </a:p>
        </p:txBody>
      </p:sp>
      <p:sp>
        <p:nvSpPr>
          <p:cNvPr id="4" name="Shape 2"/>
          <p:cNvSpPr/>
          <p:nvPr/>
        </p:nvSpPr>
        <p:spPr>
          <a:xfrm>
            <a:off x="320040" y="960120"/>
            <a:ext cx="1920240" cy="1188720"/>
          </a:xfrm>
          <a:prstGeom prst="rect">
            <a:avLst/>
          </a:prstGeom>
          <a:solidFill>
            <a:srgbClr val="065A82"/>
          </a:solidFill>
          <a:ln/>
          <a:effectLst>
            <a:outerShdw blurRad="101600" dist="38100" dir="8100000" algn="bl" rotWithShape="0">
              <a:srgbClr val="000000">
                <a:alpha val="18000"/>
              </a:srgbClr>
            </a:outerShdw>
          </a:effectLst>
        </p:spPr>
      </p:sp>
      <p:sp>
        <p:nvSpPr>
          <p:cNvPr id="5" name="Text 3"/>
          <p:cNvSpPr/>
          <p:nvPr/>
        </p:nvSpPr>
        <p:spPr>
          <a:xfrm>
            <a:off x="320040" y="1005840"/>
            <a:ext cx="1920240" cy="59436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15,000</a:t>
            </a:r>
            <a:endParaRPr lang="en-US" sz="3000" dirty="0"/>
          </a:p>
        </p:txBody>
      </p:sp>
      <p:sp>
        <p:nvSpPr>
          <p:cNvPr id="6" name="Text 4"/>
          <p:cNvSpPr/>
          <p:nvPr/>
        </p:nvSpPr>
        <p:spPr>
          <a:xfrm>
            <a:off x="320040" y="1600200"/>
            <a:ext cx="1920240" cy="457200"/>
          </a:xfrm>
          <a:prstGeom prst="rect">
            <a:avLst/>
          </a:prstGeom>
          <a:noFill/>
          <a:ln/>
        </p:spPr>
        <p:txBody>
          <a:bodyPr wrap="square" rtlCol="0" anchor="ctr"/>
          <a:lstStyle/>
          <a:p>
            <a:pPr marL="0" indent="0" algn="ctr">
              <a:buNone/>
            </a:pPr>
            <a:r>
              <a:rPr lang="en-US" sz="1200" dirty="0">
                <a:solidFill>
                  <a:srgbClr val="A8D8EA"/>
                </a:solidFill>
                <a:latin typeface="Calibri" pitchFamily="34" charset="0"/>
                <a:ea typeface="Calibri" pitchFamily="34" charset="-122"/>
                <a:cs typeface="Calibri" pitchFamily="34" charset="-120"/>
              </a:rPr>
              <a:t>Total Records</a:t>
            </a:r>
            <a:endParaRPr lang="en-US" sz="1200" dirty="0"/>
          </a:p>
        </p:txBody>
      </p:sp>
      <p:sp>
        <p:nvSpPr>
          <p:cNvPr id="7" name="Shape 5"/>
          <p:cNvSpPr/>
          <p:nvPr/>
        </p:nvSpPr>
        <p:spPr>
          <a:xfrm>
            <a:off x="2468880" y="960120"/>
            <a:ext cx="1920240" cy="1188720"/>
          </a:xfrm>
          <a:prstGeom prst="rect">
            <a:avLst/>
          </a:prstGeom>
          <a:solidFill>
            <a:srgbClr val="065A82"/>
          </a:solidFill>
          <a:ln/>
          <a:effectLst>
            <a:outerShdw blurRad="101600" dist="38100" dir="8100000" algn="bl" rotWithShape="0">
              <a:srgbClr val="000000">
                <a:alpha val="18000"/>
              </a:srgbClr>
            </a:outerShdw>
          </a:effectLst>
        </p:spPr>
      </p:sp>
      <p:sp>
        <p:nvSpPr>
          <p:cNvPr id="8" name="Text 6"/>
          <p:cNvSpPr/>
          <p:nvPr/>
        </p:nvSpPr>
        <p:spPr>
          <a:xfrm>
            <a:off x="2468880" y="1005840"/>
            <a:ext cx="1920240" cy="59436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12</a:t>
            </a:r>
            <a:endParaRPr lang="en-US" sz="3000" dirty="0"/>
          </a:p>
        </p:txBody>
      </p:sp>
      <p:sp>
        <p:nvSpPr>
          <p:cNvPr id="9" name="Text 7"/>
          <p:cNvSpPr/>
          <p:nvPr/>
        </p:nvSpPr>
        <p:spPr>
          <a:xfrm>
            <a:off x="2468880" y="1600200"/>
            <a:ext cx="1920240" cy="457200"/>
          </a:xfrm>
          <a:prstGeom prst="rect">
            <a:avLst/>
          </a:prstGeom>
          <a:noFill/>
          <a:ln/>
        </p:spPr>
        <p:txBody>
          <a:bodyPr wrap="square" rtlCol="0" anchor="ctr"/>
          <a:lstStyle/>
          <a:p>
            <a:pPr marL="0" indent="0" algn="ctr">
              <a:buNone/>
            </a:pPr>
            <a:r>
              <a:rPr lang="en-US" sz="1200" dirty="0">
                <a:solidFill>
                  <a:srgbClr val="A8D8EA"/>
                </a:solidFill>
                <a:latin typeface="Calibri" pitchFamily="34" charset="0"/>
                <a:ea typeface="Calibri" pitchFamily="34" charset="-122"/>
                <a:cs typeface="Calibri" pitchFamily="34" charset="-120"/>
              </a:rPr>
              <a:t>Original Columns</a:t>
            </a:r>
            <a:endParaRPr lang="en-US" sz="1200" dirty="0"/>
          </a:p>
        </p:txBody>
      </p:sp>
      <p:sp>
        <p:nvSpPr>
          <p:cNvPr id="10" name="Shape 8"/>
          <p:cNvSpPr/>
          <p:nvPr/>
        </p:nvSpPr>
        <p:spPr>
          <a:xfrm>
            <a:off x="4617720" y="960120"/>
            <a:ext cx="1920240" cy="1188720"/>
          </a:xfrm>
          <a:prstGeom prst="rect">
            <a:avLst/>
          </a:prstGeom>
          <a:solidFill>
            <a:srgbClr val="065A82"/>
          </a:solidFill>
          <a:ln/>
          <a:effectLst>
            <a:outerShdw blurRad="101600" dist="38100" dir="8100000" algn="bl" rotWithShape="0">
              <a:srgbClr val="000000">
                <a:alpha val="18000"/>
              </a:srgbClr>
            </a:outerShdw>
          </a:effectLst>
        </p:spPr>
      </p:sp>
      <p:sp>
        <p:nvSpPr>
          <p:cNvPr id="11" name="Text 9"/>
          <p:cNvSpPr/>
          <p:nvPr/>
        </p:nvSpPr>
        <p:spPr>
          <a:xfrm>
            <a:off x="4617720" y="1005840"/>
            <a:ext cx="1920240" cy="59436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5</a:t>
            </a:r>
            <a:endParaRPr lang="en-US" sz="3000" dirty="0"/>
          </a:p>
        </p:txBody>
      </p:sp>
      <p:sp>
        <p:nvSpPr>
          <p:cNvPr id="12" name="Text 10"/>
          <p:cNvSpPr/>
          <p:nvPr/>
        </p:nvSpPr>
        <p:spPr>
          <a:xfrm>
            <a:off x="4617720" y="1600200"/>
            <a:ext cx="1920240" cy="457200"/>
          </a:xfrm>
          <a:prstGeom prst="rect">
            <a:avLst/>
          </a:prstGeom>
          <a:noFill/>
          <a:ln/>
        </p:spPr>
        <p:txBody>
          <a:bodyPr wrap="square" rtlCol="0" anchor="ctr"/>
          <a:lstStyle/>
          <a:p>
            <a:pPr marL="0" indent="0" algn="ctr">
              <a:buNone/>
            </a:pPr>
            <a:r>
              <a:rPr lang="en-US" sz="1200" dirty="0">
                <a:solidFill>
                  <a:srgbClr val="A8D8EA"/>
                </a:solidFill>
                <a:latin typeface="Calibri" pitchFamily="34" charset="0"/>
                <a:ea typeface="Calibri" pitchFamily="34" charset="-122"/>
                <a:cs typeface="Calibri" pitchFamily="34" charset="-120"/>
              </a:rPr>
              <a:t>Industries</a:t>
            </a:r>
            <a:endParaRPr lang="en-US" sz="1200" dirty="0"/>
          </a:p>
        </p:txBody>
      </p:sp>
      <p:sp>
        <p:nvSpPr>
          <p:cNvPr id="13" name="Shape 11"/>
          <p:cNvSpPr/>
          <p:nvPr/>
        </p:nvSpPr>
        <p:spPr>
          <a:xfrm>
            <a:off x="6766560" y="960120"/>
            <a:ext cx="1920240" cy="1188720"/>
          </a:xfrm>
          <a:prstGeom prst="rect">
            <a:avLst/>
          </a:prstGeom>
          <a:solidFill>
            <a:srgbClr val="065A82"/>
          </a:solidFill>
          <a:ln/>
          <a:effectLst>
            <a:outerShdw blurRad="101600" dist="38100" dir="8100000" algn="bl" rotWithShape="0">
              <a:srgbClr val="000000">
                <a:alpha val="18000"/>
              </a:srgbClr>
            </a:outerShdw>
          </a:effectLst>
        </p:spPr>
      </p:sp>
      <p:sp>
        <p:nvSpPr>
          <p:cNvPr id="14" name="Text 12"/>
          <p:cNvSpPr/>
          <p:nvPr/>
        </p:nvSpPr>
        <p:spPr>
          <a:xfrm>
            <a:off x="6766560" y="1005840"/>
            <a:ext cx="1920240" cy="59436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4</a:t>
            </a:r>
            <a:endParaRPr lang="en-US" sz="3000" dirty="0"/>
          </a:p>
        </p:txBody>
      </p:sp>
      <p:sp>
        <p:nvSpPr>
          <p:cNvPr id="15" name="Text 13"/>
          <p:cNvSpPr/>
          <p:nvPr/>
        </p:nvSpPr>
        <p:spPr>
          <a:xfrm>
            <a:off x="6766560" y="1600200"/>
            <a:ext cx="1920240" cy="457200"/>
          </a:xfrm>
          <a:prstGeom prst="rect">
            <a:avLst/>
          </a:prstGeom>
          <a:noFill/>
          <a:ln/>
        </p:spPr>
        <p:txBody>
          <a:bodyPr wrap="square" rtlCol="0" anchor="ctr"/>
          <a:lstStyle/>
          <a:p>
            <a:pPr marL="0" indent="0" algn="ctr">
              <a:buNone/>
            </a:pPr>
            <a:r>
              <a:rPr lang="en-US" sz="1200" dirty="0">
                <a:solidFill>
                  <a:srgbClr val="A8D8EA"/>
                </a:solidFill>
                <a:latin typeface="Calibri" pitchFamily="34" charset="0"/>
                <a:ea typeface="Calibri" pitchFamily="34" charset="-122"/>
                <a:cs typeface="Calibri" pitchFamily="34" charset="-120"/>
              </a:rPr>
              <a:t>Countries</a:t>
            </a:r>
            <a:endParaRPr lang="en-US" sz="1200" dirty="0"/>
          </a:p>
        </p:txBody>
      </p:sp>
      <p:sp>
        <p:nvSpPr>
          <p:cNvPr id="16" name="Text 14"/>
          <p:cNvSpPr/>
          <p:nvPr/>
        </p:nvSpPr>
        <p:spPr>
          <a:xfrm>
            <a:off x="365760" y="2331720"/>
            <a:ext cx="3840480" cy="347472"/>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Original Columns</a:t>
            </a:r>
            <a:endParaRPr lang="en-US" sz="1400" dirty="0"/>
          </a:p>
        </p:txBody>
      </p:sp>
      <p:sp>
        <p:nvSpPr>
          <p:cNvPr id="17" name="Shape 15"/>
          <p:cNvSpPr/>
          <p:nvPr/>
        </p:nvSpPr>
        <p:spPr>
          <a:xfrm>
            <a:off x="365760" y="2743200"/>
            <a:ext cx="3931920" cy="274320"/>
          </a:xfrm>
          <a:prstGeom prst="rect">
            <a:avLst/>
          </a:prstGeom>
          <a:solidFill>
            <a:srgbClr val="EBF4FA"/>
          </a:solidFill>
          <a:ln w="12700">
            <a:solidFill>
              <a:srgbClr val="D0E4EF"/>
            </a:solidFill>
            <a:prstDash val="solid"/>
          </a:ln>
        </p:spPr>
      </p:sp>
      <p:sp>
        <p:nvSpPr>
          <p:cNvPr id="18" name="Text 16"/>
          <p:cNvSpPr/>
          <p:nvPr/>
        </p:nvSpPr>
        <p:spPr>
          <a:xfrm>
            <a:off x="457200" y="274320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id (dropped)</a:t>
            </a:r>
            <a:endParaRPr lang="en-US" sz="1200" dirty="0"/>
          </a:p>
        </p:txBody>
      </p:sp>
      <p:sp>
        <p:nvSpPr>
          <p:cNvPr id="19" name="Shape 17"/>
          <p:cNvSpPr/>
          <p:nvPr/>
        </p:nvSpPr>
        <p:spPr>
          <a:xfrm>
            <a:off x="365760" y="3063240"/>
            <a:ext cx="3931920" cy="274320"/>
          </a:xfrm>
          <a:prstGeom prst="rect">
            <a:avLst/>
          </a:prstGeom>
          <a:solidFill>
            <a:srgbClr val="FFFFFF"/>
          </a:solidFill>
          <a:ln w="12700">
            <a:solidFill>
              <a:srgbClr val="D0E4EF"/>
            </a:solidFill>
            <a:prstDash val="solid"/>
          </a:ln>
        </p:spPr>
      </p:sp>
      <p:sp>
        <p:nvSpPr>
          <p:cNvPr id="20" name="Text 18"/>
          <p:cNvSpPr/>
          <p:nvPr/>
        </p:nvSpPr>
        <p:spPr>
          <a:xfrm>
            <a:off x="457200" y="306324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company_name</a:t>
            </a:r>
            <a:endParaRPr lang="en-US" sz="1200" dirty="0"/>
          </a:p>
        </p:txBody>
      </p:sp>
      <p:sp>
        <p:nvSpPr>
          <p:cNvPr id="21" name="Shape 19"/>
          <p:cNvSpPr/>
          <p:nvPr/>
        </p:nvSpPr>
        <p:spPr>
          <a:xfrm>
            <a:off x="365760" y="3383280"/>
            <a:ext cx="3931920" cy="274320"/>
          </a:xfrm>
          <a:prstGeom prst="rect">
            <a:avLst/>
          </a:prstGeom>
          <a:solidFill>
            <a:srgbClr val="EBF4FA"/>
          </a:solidFill>
          <a:ln w="12700">
            <a:solidFill>
              <a:srgbClr val="D0E4EF"/>
            </a:solidFill>
            <a:prstDash val="solid"/>
          </a:ln>
        </p:spPr>
      </p:sp>
      <p:sp>
        <p:nvSpPr>
          <p:cNvPr id="22" name="Text 20"/>
          <p:cNvSpPr/>
          <p:nvPr/>
        </p:nvSpPr>
        <p:spPr>
          <a:xfrm>
            <a:off x="457200" y="338328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industry</a:t>
            </a:r>
            <a:endParaRPr lang="en-US" sz="1200" dirty="0"/>
          </a:p>
        </p:txBody>
      </p:sp>
      <p:sp>
        <p:nvSpPr>
          <p:cNvPr id="23" name="Shape 21"/>
          <p:cNvSpPr/>
          <p:nvPr/>
        </p:nvSpPr>
        <p:spPr>
          <a:xfrm>
            <a:off x="365760" y="3703320"/>
            <a:ext cx="3931920" cy="274320"/>
          </a:xfrm>
          <a:prstGeom prst="rect">
            <a:avLst/>
          </a:prstGeom>
          <a:solidFill>
            <a:srgbClr val="FFFFFF"/>
          </a:solidFill>
          <a:ln w="12700">
            <a:solidFill>
              <a:srgbClr val="D0E4EF"/>
            </a:solidFill>
            <a:prstDash val="solid"/>
          </a:ln>
        </p:spPr>
      </p:sp>
      <p:sp>
        <p:nvSpPr>
          <p:cNvPr id="24" name="Text 22"/>
          <p:cNvSpPr/>
          <p:nvPr/>
        </p:nvSpPr>
        <p:spPr>
          <a:xfrm>
            <a:off x="457200" y="370332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country</a:t>
            </a:r>
            <a:endParaRPr lang="en-US" sz="1200" dirty="0"/>
          </a:p>
        </p:txBody>
      </p:sp>
      <p:sp>
        <p:nvSpPr>
          <p:cNvPr id="25" name="Shape 23"/>
          <p:cNvSpPr/>
          <p:nvPr/>
        </p:nvSpPr>
        <p:spPr>
          <a:xfrm>
            <a:off x="365760" y="4023360"/>
            <a:ext cx="3931920" cy="274320"/>
          </a:xfrm>
          <a:prstGeom prst="rect">
            <a:avLst/>
          </a:prstGeom>
          <a:solidFill>
            <a:srgbClr val="EBF4FA"/>
          </a:solidFill>
          <a:ln w="12700">
            <a:solidFill>
              <a:srgbClr val="D0E4EF"/>
            </a:solidFill>
            <a:prstDash val="solid"/>
          </a:ln>
        </p:spPr>
      </p:sp>
      <p:sp>
        <p:nvSpPr>
          <p:cNvPr id="26" name="Text 24"/>
          <p:cNvSpPr/>
          <p:nvPr/>
        </p:nvSpPr>
        <p:spPr>
          <a:xfrm>
            <a:off x="457200" y="402336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region</a:t>
            </a:r>
            <a:endParaRPr lang="en-US" sz="1200" dirty="0"/>
          </a:p>
        </p:txBody>
      </p:sp>
      <p:sp>
        <p:nvSpPr>
          <p:cNvPr id="27" name="Shape 25"/>
          <p:cNvSpPr/>
          <p:nvPr/>
        </p:nvSpPr>
        <p:spPr>
          <a:xfrm>
            <a:off x="365760" y="4343400"/>
            <a:ext cx="3931920" cy="274320"/>
          </a:xfrm>
          <a:prstGeom prst="rect">
            <a:avLst/>
          </a:prstGeom>
          <a:solidFill>
            <a:srgbClr val="FFFFFF"/>
          </a:solidFill>
          <a:ln w="12700">
            <a:solidFill>
              <a:srgbClr val="D0E4EF"/>
            </a:solidFill>
            <a:prstDash val="solid"/>
          </a:ln>
        </p:spPr>
      </p:sp>
      <p:sp>
        <p:nvSpPr>
          <p:cNvPr id="28" name="Text 26"/>
          <p:cNvSpPr/>
          <p:nvPr/>
        </p:nvSpPr>
        <p:spPr>
          <a:xfrm>
            <a:off x="457200" y="4343400"/>
            <a:ext cx="37490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employee_count</a:t>
            </a:r>
            <a:endParaRPr lang="en-US" sz="1200" dirty="0"/>
          </a:p>
        </p:txBody>
      </p:sp>
      <p:sp>
        <p:nvSpPr>
          <p:cNvPr id="29" name="Shape 27"/>
          <p:cNvSpPr/>
          <p:nvPr/>
        </p:nvSpPr>
        <p:spPr>
          <a:xfrm>
            <a:off x="4389120" y="2743200"/>
            <a:ext cx="4389120" cy="274320"/>
          </a:xfrm>
          <a:prstGeom prst="rect">
            <a:avLst/>
          </a:prstGeom>
          <a:solidFill>
            <a:srgbClr val="EBF4FA"/>
          </a:solidFill>
          <a:ln w="12700">
            <a:solidFill>
              <a:srgbClr val="D0E4EF"/>
            </a:solidFill>
            <a:prstDash val="solid"/>
          </a:ln>
        </p:spPr>
      </p:sp>
      <p:sp>
        <p:nvSpPr>
          <p:cNvPr id="30" name="Text 28"/>
          <p:cNvSpPr/>
          <p:nvPr/>
        </p:nvSpPr>
        <p:spPr>
          <a:xfrm>
            <a:off x="4480560" y="274320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annual_revenue_million</a:t>
            </a:r>
            <a:endParaRPr lang="en-US" sz="1200" dirty="0"/>
          </a:p>
        </p:txBody>
      </p:sp>
      <p:sp>
        <p:nvSpPr>
          <p:cNvPr id="31" name="Shape 29"/>
          <p:cNvSpPr/>
          <p:nvPr/>
        </p:nvSpPr>
        <p:spPr>
          <a:xfrm>
            <a:off x="4389120" y="3063240"/>
            <a:ext cx="4389120" cy="274320"/>
          </a:xfrm>
          <a:prstGeom prst="rect">
            <a:avLst/>
          </a:prstGeom>
          <a:solidFill>
            <a:srgbClr val="FFFFFF"/>
          </a:solidFill>
          <a:ln w="12700">
            <a:solidFill>
              <a:srgbClr val="D0E4EF"/>
            </a:solidFill>
            <a:prstDash val="solid"/>
          </a:ln>
        </p:spPr>
      </p:sp>
      <p:sp>
        <p:nvSpPr>
          <p:cNvPr id="32" name="Text 30"/>
          <p:cNvSpPr/>
          <p:nvPr/>
        </p:nvSpPr>
        <p:spPr>
          <a:xfrm>
            <a:off x="4480560" y="306324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profit_margin_percent</a:t>
            </a:r>
            <a:endParaRPr lang="en-US" sz="1200" dirty="0"/>
          </a:p>
        </p:txBody>
      </p:sp>
      <p:sp>
        <p:nvSpPr>
          <p:cNvPr id="33" name="Shape 31"/>
          <p:cNvSpPr/>
          <p:nvPr/>
        </p:nvSpPr>
        <p:spPr>
          <a:xfrm>
            <a:off x="4389120" y="3383280"/>
            <a:ext cx="4389120" cy="274320"/>
          </a:xfrm>
          <a:prstGeom prst="rect">
            <a:avLst/>
          </a:prstGeom>
          <a:solidFill>
            <a:srgbClr val="EBF4FA"/>
          </a:solidFill>
          <a:ln w="12700">
            <a:solidFill>
              <a:srgbClr val="D0E4EF"/>
            </a:solidFill>
            <a:prstDash val="solid"/>
          </a:ln>
        </p:spPr>
      </p:sp>
      <p:sp>
        <p:nvSpPr>
          <p:cNvPr id="34" name="Text 32"/>
          <p:cNvSpPr/>
          <p:nvPr/>
        </p:nvSpPr>
        <p:spPr>
          <a:xfrm>
            <a:off x="4480560" y="338328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founded_year</a:t>
            </a:r>
            <a:endParaRPr lang="en-US" sz="1200" dirty="0"/>
          </a:p>
        </p:txBody>
      </p:sp>
      <p:sp>
        <p:nvSpPr>
          <p:cNvPr id="35" name="Shape 33"/>
          <p:cNvSpPr/>
          <p:nvPr/>
        </p:nvSpPr>
        <p:spPr>
          <a:xfrm>
            <a:off x="4389120" y="3703320"/>
            <a:ext cx="4389120" cy="274320"/>
          </a:xfrm>
          <a:prstGeom prst="rect">
            <a:avLst/>
          </a:prstGeom>
          <a:solidFill>
            <a:srgbClr val="FFFFFF"/>
          </a:solidFill>
          <a:ln w="12700">
            <a:solidFill>
              <a:srgbClr val="D0E4EF"/>
            </a:solidFill>
            <a:prstDash val="solid"/>
          </a:ln>
        </p:spPr>
      </p:sp>
      <p:sp>
        <p:nvSpPr>
          <p:cNvPr id="36" name="Text 34"/>
          <p:cNvSpPr/>
          <p:nvPr/>
        </p:nvSpPr>
        <p:spPr>
          <a:xfrm>
            <a:off x="4480560" y="370332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customer_count</a:t>
            </a:r>
            <a:endParaRPr lang="en-US" sz="1200" dirty="0"/>
          </a:p>
        </p:txBody>
      </p:sp>
      <p:sp>
        <p:nvSpPr>
          <p:cNvPr id="37" name="Shape 35"/>
          <p:cNvSpPr/>
          <p:nvPr/>
        </p:nvSpPr>
        <p:spPr>
          <a:xfrm>
            <a:off x="4389120" y="4023360"/>
            <a:ext cx="4389120" cy="274320"/>
          </a:xfrm>
          <a:prstGeom prst="rect">
            <a:avLst/>
          </a:prstGeom>
          <a:solidFill>
            <a:srgbClr val="EBF4FA"/>
          </a:solidFill>
          <a:ln w="12700">
            <a:solidFill>
              <a:srgbClr val="D0E4EF"/>
            </a:solidFill>
            <a:prstDash val="solid"/>
          </a:ln>
        </p:spPr>
      </p:sp>
      <p:sp>
        <p:nvSpPr>
          <p:cNvPr id="38" name="Text 36"/>
          <p:cNvSpPr/>
          <p:nvPr/>
        </p:nvSpPr>
        <p:spPr>
          <a:xfrm>
            <a:off x="4480560" y="402336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market_rating</a:t>
            </a:r>
            <a:endParaRPr lang="en-US" sz="1200" dirty="0"/>
          </a:p>
        </p:txBody>
      </p:sp>
      <p:sp>
        <p:nvSpPr>
          <p:cNvPr id="39" name="Shape 37"/>
          <p:cNvSpPr/>
          <p:nvPr/>
        </p:nvSpPr>
        <p:spPr>
          <a:xfrm>
            <a:off x="4389120" y="4343400"/>
            <a:ext cx="4389120" cy="274320"/>
          </a:xfrm>
          <a:prstGeom prst="rect">
            <a:avLst/>
          </a:prstGeom>
          <a:solidFill>
            <a:srgbClr val="FFFFFF"/>
          </a:solidFill>
          <a:ln w="12700">
            <a:solidFill>
              <a:srgbClr val="D0E4EF"/>
            </a:solidFill>
            <a:prstDash val="solid"/>
          </a:ln>
        </p:spPr>
      </p:sp>
      <p:sp>
        <p:nvSpPr>
          <p:cNvPr id="40" name="Text 38"/>
          <p:cNvSpPr/>
          <p:nvPr/>
        </p:nvSpPr>
        <p:spPr>
          <a:xfrm>
            <a:off x="4480560" y="4343400"/>
            <a:ext cx="4206240" cy="274320"/>
          </a:xfrm>
          <a:prstGeom prst="rect">
            <a:avLst/>
          </a:prstGeom>
          <a:noFill/>
          <a:ln/>
        </p:spPr>
        <p:txBody>
          <a:bodyPr wrap="square" rtlCol="0" anchor="ctr"/>
          <a:lstStyle/>
          <a:p>
            <a:pPr marL="0" indent="0">
              <a:buNone/>
            </a:pPr>
            <a:r>
              <a:rPr lang="en-US" sz="1200" dirty="0">
                <a:solidFill>
                  <a:srgbClr val="2D3748"/>
                </a:solidFill>
                <a:latin typeface="Calibri" pitchFamily="34" charset="0"/>
                <a:ea typeface="Calibri" pitchFamily="34" charset="-122"/>
                <a:cs typeface="Calibri" pitchFamily="34" charset="-120"/>
              </a:rPr>
              <a:t>created_date (dropped)</a:t>
            </a:r>
            <a:endParaRPr lang="en-US" sz="1200" dirty="0"/>
          </a:p>
        </p:txBody>
      </p:sp>
      <p:sp>
        <p:nvSpPr>
          <p:cNvPr id="41" name="Text 39"/>
          <p:cNvSpPr/>
          <p:nvPr/>
        </p:nvSpPr>
        <p:spPr>
          <a:xfrm>
            <a:off x="365760" y="4663440"/>
            <a:ext cx="8412480" cy="320040"/>
          </a:xfrm>
          <a:prstGeom prst="rect">
            <a:avLst/>
          </a:prstGeom>
          <a:noFill/>
          <a:ln/>
        </p:spPr>
        <p:txBody>
          <a:bodyPr wrap="square" rtlCol="0" anchor="ctr"/>
          <a:lstStyle/>
          <a:p>
            <a:pPr marL="0" indent="0">
              <a:buNone/>
            </a:pPr>
            <a:r>
              <a:rPr lang="en-US" sz="1300" b="1" i="1" dirty="0">
                <a:solidFill>
                  <a:srgbClr val="1C7293"/>
                </a:solidFill>
                <a:latin typeface="Calibri" pitchFamily="34" charset="0"/>
                <a:ea typeface="Calibri" pitchFamily="34" charset="-122"/>
                <a:cs typeface="Calibri" pitchFamily="34" charset="-120"/>
              </a:rPr>
              <a:t>Target Variable: annual_revenue_million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 Preprocessing &amp; Quality Checks</a:t>
            </a:r>
            <a:endParaRPr lang="en-US" sz="2600" dirty="0"/>
          </a:p>
        </p:txBody>
      </p:sp>
      <p:sp>
        <p:nvSpPr>
          <p:cNvPr id="4" name="Shape 2"/>
          <p:cNvSpPr/>
          <p:nvPr/>
        </p:nvSpPr>
        <p:spPr>
          <a:xfrm>
            <a:off x="274320" y="96012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274320" y="960120"/>
            <a:ext cx="82296" cy="896112"/>
          </a:xfrm>
          <a:prstGeom prst="rect">
            <a:avLst/>
          </a:prstGeom>
          <a:solidFill>
            <a:srgbClr val="1C7293"/>
          </a:solidFill>
          <a:ln w="12700">
            <a:solidFill>
              <a:srgbClr val="1C7293"/>
            </a:solidFill>
            <a:prstDash val="solid"/>
          </a:ln>
        </p:spPr>
      </p:sp>
      <p:sp>
        <p:nvSpPr>
          <p:cNvPr id="6" name="Text 4"/>
          <p:cNvSpPr/>
          <p:nvPr/>
        </p:nvSpPr>
        <p:spPr>
          <a:xfrm>
            <a:off x="429768" y="99669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No Duplicate Records</a:t>
            </a:r>
            <a:endParaRPr lang="en-US" sz="1200" dirty="0"/>
          </a:p>
        </p:txBody>
      </p:sp>
      <p:sp>
        <p:nvSpPr>
          <p:cNvPr id="7" name="Text 5"/>
          <p:cNvSpPr/>
          <p:nvPr/>
        </p:nvSpPr>
        <p:spPr>
          <a:xfrm>
            <a:off x="429768" y="125272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df.duplicated().sum() returned 0 — dataset is entirely unique across all 15,000 records.</a:t>
            </a:r>
            <a:endParaRPr lang="en-US" sz="1000" dirty="0"/>
          </a:p>
        </p:txBody>
      </p:sp>
      <p:sp>
        <p:nvSpPr>
          <p:cNvPr id="8" name="Shape 6"/>
          <p:cNvSpPr/>
          <p:nvPr/>
        </p:nvSpPr>
        <p:spPr>
          <a:xfrm>
            <a:off x="274320" y="196596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9" name="Shape 7"/>
          <p:cNvSpPr/>
          <p:nvPr/>
        </p:nvSpPr>
        <p:spPr>
          <a:xfrm>
            <a:off x="274320" y="1965960"/>
            <a:ext cx="82296" cy="896112"/>
          </a:xfrm>
          <a:prstGeom prst="rect">
            <a:avLst/>
          </a:prstGeom>
          <a:solidFill>
            <a:srgbClr val="1C7293"/>
          </a:solidFill>
          <a:ln w="12700">
            <a:solidFill>
              <a:srgbClr val="1C7293"/>
            </a:solidFill>
            <a:prstDash val="solid"/>
          </a:ln>
        </p:spPr>
      </p:sp>
      <p:sp>
        <p:nvSpPr>
          <p:cNvPr id="10" name="Text 8"/>
          <p:cNvSpPr/>
          <p:nvPr/>
        </p:nvSpPr>
        <p:spPr>
          <a:xfrm>
            <a:off x="429768" y="200253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No Null Values</a:t>
            </a:r>
            <a:endParaRPr lang="en-US" sz="1200" dirty="0"/>
          </a:p>
        </p:txBody>
      </p:sp>
      <p:sp>
        <p:nvSpPr>
          <p:cNvPr id="11" name="Text 9"/>
          <p:cNvSpPr/>
          <p:nvPr/>
        </p:nvSpPr>
        <p:spPr>
          <a:xfrm>
            <a:off x="429768" y="225856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df.info() confirmed complete data across all 12 columns — no imputation required.</a:t>
            </a:r>
            <a:endParaRPr lang="en-US" sz="1000" dirty="0"/>
          </a:p>
        </p:txBody>
      </p:sp>
      <p:sp>
        <p:nvSpPr>
          <p:cNvPr id="12" name="Shape 10"/>
          <p:cNvSpPr/>
          <p:nvPr/>
        </p:nvSpPr>
        <p:spPr>
          <a:xfrm>
            <a:off x="274320" y="297180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13" name="Shape 11"/>
          <p:cNvSpPr/>
          <p:nvPr/>
        </p:nvSpPr>
        <p:spPr>
          <a:xfrm>
            <a:off x="274320" y="2971800"/>
            <a:ext cx="82296" cy="896112"/>
          </a:xfrm>
          <a:prstGeom prst="rect">
            <a:avLst/>
          </a:prstGeom>
          <a:solidFill>
            <a:srgbClr val="1C7293"/>
          </a:solidFill>
          <a:ln w="12700">
            <a:solidFill>
              <a:srgbClr val="1C7293"/>
            </a:solidFill>
            <a:prstDash val="solid"/>
          </a:ln>
        </p:spPr>
      </p:sp>
      <p:sp>
        <p:nvSpPr>
          <p:cNvPr id="14" name="Text 12"/>
          <p:cNvSpPr/>
          <p:nvPr/>
        </p:nvSpPr>
        <p:spPr>
          <a:xfrm>
            <a:off x="429768" y="300837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Datatype Correction</a:t>
            </a:r>
            <a:endParaRPr lang="en-US" sz="1200" dirty="0"/>
          </a:p>
        </p:txBody>
      </p:sp>
      <p:sp>
        <p:nvSpPr>
          <p:cNvPr id="15" name="Text 13"/>
          <p:cNvSpPr/>
          <p:nvPr/>
        </p:nvSpPr>
        <p:spPr>
          <a:xfrm>
            <a:off x="429768" y="326440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created_date converted from string (str) to datetime using format '%d-%m-%Y' for proper temporal handling.</a:t>
            </a:r>
            <a:endParaRPr lang="en-US" sz="1000" dirty="0"/>
          </a:p>
        </p:txBody>
      </p:sp>
      <p:sp>
        <p:nvSpPr>
          <p:cNvPr id="16" name="Shape 14"/>
          <p:cNvSpPr/>
          <p:nvPr/>
        </p:nvSpPr>
        <p:spPr>
          <a:xfrm>
            <a:off x="274320" y="397764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17" name="Shape 15"/>
          <p:cNvSpPr/>
          <p:nvPr/>
        </p:nvSpPr>
        <p:spPr>
          <a:xfrm>
            <a:off x="274320" y="3977640"/>
            <a:ext cx="82296" cy="896112"/>
          </a:xfrm>
          <a:prstGeom prst="rect">
            <a:avLst/>
          </a:prstGeom>
          <a:solidFill>
            <a:srgbClr val="1C7293"/>
          </a:solidFill>
          <a:ln w="12700">
            <a:solidFill>
              <a:srgbClr val="1C7293"/>
            </a:solidFill>
            <a:prstDash val="solid"/>
          </a:ln>
        </p:spPr>
      </p:sp>
      <p:sp>
        <p:nvSpPr>
          <p:cNvPr id="18" name="Text 16"/>
          <p:cNvSpPr/>
          <p:nvPr/>
        </p:nvSpPr>
        <p:spPr>
          <a:xfrm>
            <a:off x="429768" y="401421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id Column Dropped</a:t>
            </a:r>
            <a:endParaRPr lang="en-US" sz="1200" dirty="0"/>
          </a:p>
        </p:txBody>
      </p:sp>
      <p:sp>
        <p:nvSpPr>
          <p:cNvPr id="19" name="Text 17"/>
          <p:cNvSpPr/>
          <p:nvPr/>
        </p:nvSpPr>
        <p:spPr>
          <a:xfrm>
            <a:off x="429768" y="427024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The id column serves no analytical or predictive purpose — removed to avoid noise in the model.</a:t>
            </a:r>
            <a:endParaRPr lang="en-US" sz="1000" dirty="0"/>
          </a:p>
        </p:txBody>
      </p:sp>
      <p:sp>
        <p:nvSpPr>
          <p:cNvPr id="20" name="Shape 18"/>
          <p:cNvSpPr/>
          <p:nvPr/>
        </p:nvSpPr>
        <p:spPr>
          <a:xfrm>
            <a:off x="4800600" y="96012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21" name="Shape 19"/>
          <p:cNvSpPr/>
          <p:nvPr/>
        </p:nvSpPr>
        <p:spPr>
          <a:xfrm>
            <a:off x="4800600" y="960120"/>
            <a:ext cx="82296" cy="896112"/>
          </a:xfrm>
          <a:prstGeom prst="rect">
            <a:avLst/>
          </a:prstGeom>
          <a:solidFill>
            <a:srgbClr val="1C7293"/>
          </a:solidFill>
          <a:ln w="12700">
            <a:solidFill>
              <a:srgbClr val="1C7293"/>
            </a:solidFill>
            <a:prstDash val="solid"/>
          </a:ln>
        </p:spPr>
      </p:sp>
      <p:sp>
        <p:nvSpPr>
          <p:cNvPr id="22" name="Text 20"/>
          <p:cNvSpPr/>
          <p:nvPr/>
        </p:nvSpPr>
        <p:spPr>
          <a:xfrm>
            <a:off x="4956048" y="99669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Company Name Cleaned</a:t>
            </a:r>
            <a:endParaRPr lang="en-US" sz="1200" dirty="0"/>
          </a:p>
        </p:txBody>
      </p:sp>
      <p:sp>
        <p:nvSpPr>
          <p:cNvPr id="23" name="Text 21"/>
          <p:cNvSpPr/>
          <p:nvPr/>
        </p:nvSpPr>
        <p:spPr>
          <a:xfrm>
            <a:off x="4956048" y="125272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Appended ID suffixes (e.g. FinTrust_14996) stripped; only the base company name retained.</a:t>
            </a:r>
            <a:endParaRPr lang="en-US" sz="1000" dirty="0"/>
          </a:p>
        </p:txBody>
      </p:sp>
      <p:sp>
        <p:nvSpPr>
          <p:cNvPr id="24" name="Shape 22"/>
          <p:cNvSpPr/>
          <p:nvPr/>
        </p:nvSpPr>
        <p:spPr>
          <a:xfrm>
            <a:off x="4800600" y="196596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25" name="Shape 23"/>
          <p:cNvSpPr/>
          <p:nvPr/>
        </p:nvSpPr>
        <p:spPr>
          <a:xfrm>
            <a:off x="4800600" y="1965960"/>
            <a:ext cx="82296" cy="896112"/>
          </a:xfrm>
          <a:prstGeom prst="rect">
            <a:avLst/>
          </a:prstGeom>
          <a:solidFill>
            <a:srgbClr val="1C7293"/>
          </a:solidFill>
          <a:ln w="12700">
            <a:solidFill>
              <a:srgbClr val="1C7293"/>
            </a:solidFill>
            <a:prstDash val="solid"/>
          </a:ln>
        </p:spPr>
      </p:sp>
      <p:sp>
        <p:nvSpPr>
          <p:cNvPr id="26" name="Text 24"/>
          <p:cNvSpPr/>
          <p:nvPr/>
        </p:nvSpPr>
        <p:spPr>
          <a:xfrm>
            <a:off x="4956048" y="200253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created_date Dropped</a:t>
            </a:r>
            <a:endParaRPr lang="en-US" sz="1200" dirty="0"/>
          </a:p>
        </p:txBody>
      </p:sp>
      <p:sp>
        <p:nvSpPr>
          <p:cNvPr id="27" name="Text 25"/>
          <p:cNvSpPr/>
          <p:nvPr/>
        </p:nvSpPr>
        <p:spPr>
          <a:xfrm>
            <a:off x="4956048" y="225856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No direct relationship with business features like revenue, profit margin, or market rating. Excluded during feature engineering.</a:t>
            </a:r>
            <a:endParaRPr lang="en-US" sz="1000" dirty="0"/>
          </a:p>
        </p:txBody>
      </p:sp>
      <p:sp>
        <p:nvSpPr>
          <p:cNvPr id="28" name="Shape 26"/>
          <p:cNvSpPr/>
          <p:nvPr/>
        </p:nvSpPr>
        <p:spPr>
          <a:xfrm>
            <a:off x="4800600" y="297180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29" name="Shape 27"/>
          <p:cNvSpPr/>
          <p:nvPr/>
        </p:nvSpPr>
        <p:spPr>
          <a:xfrm>
            <a:off x="4800600" y="2971800"/>
            <a:ext cx="82296" cy="896112"/>
          </a:xfrm>
          <a:prstGeom prst="rect">
            <a:avLst/>
          </a:prstGeom>
          <a:solidFill>
            <a:srgbClr val="1C7293"/>
          </a:solidFill>
          <a:ln w="12700">
            <a:solidFill>
              <a:srgbClr val="1C7293"/>
            </a:solidFill>
            <a:prstDash val="solid"/>
          </a:ln>
        </p:spPr>
      </p:sp>
      <p:sp>
        <p:nvSpPr>
          <p:cNvPr id="30" name="Text 28"/>
          <p:cNvSpPr/>
          <p:nvPr/>
        </p:nvSpPr>
        <p:spPr>
          <a:xfrm>
            <a:off x="4956048" y="300837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region Column Dropped</a:t>
            </a:r>
            <a:endParaRPr lang="en-US" sz="1200" dirty="0"/>
          </a:p>
        </p:txBody>
      </p:sp>
      <p:sp>
        <p:nvSpPr>
          <p:cNvPr id="31" name="Text 29"/>
          <p:cNvSpPr/>
          <p:nvPr/>
        </p:nvSpPr>
        <p:spPr>
          <a:xfrm>
            <a:off x="4956048" y="326440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Region is derived from country — retaining both creates redundant information. country retained as it carries richer market-level context.</a:t>
            </a:r>
            <a:endParaRPr lang="en-US" sz="1000" dirty="0"/>
          </a:p>
        </p:txBody>
      </p:sp>
      <p:sp>
        <p:nvSpPr>
          <p:cNvPr id="32" name="Shape 30"/>
          <p:cNvSpPr/>
          <p:nvPr/>
        </p:nvSpPr>
        <p:spPr>
          <a:xfrm>
            <a:off x="4800600" y="3977640"/>
            <a:ext cx="4023360" cy="896112"/>
          </a:xfrm>
          <a:prstGeom prst="rect">
            <a:avLst/>
          </a:prstGeom>
          <a:solidFill>
            <a:srgbClr val="FFFFFF"/>
          </a:solidFill>
          <a:ln/>
          <a:effectLst>
            <a:outerShdw blurRad="63500" dist="25400" dir="8100000" algn="bl" rotWithShape="0">
              <a:srgbClr val="000000">
                <a:alpha val="10000"/>
              </a:srgbClr>
            </a:outerShdw>
          </a:effectLst>
        </p:spPr>
      </p:sp>
      <p:sp>
        <p:nvSpPr>
          <p:cNvPr id="33" name="Shape 31"/>
          <p:cNvSpPr/>
          <p:nvPr/>
        </p:nvSpPr>
        <p:spPr>
          <a:xfrm>
            <a:off x="4800600" y="3977640"/>
            <a:ext cx="82296" cy="896112"/>
          </a:xfrm>
          <a:prstGeom prst="rect">
            <a:avLst/>
          </a:prstGeom>
          <a:solidFill>
            <a:srgbClr val="1C7293"/>
          </a:solidFill>
          <a:ln w="12700">
            <a:solidFill>
              <a:srgbClr val="1C7293"/>
            </a:solidFill>
            <a:prstDash val="solid"/>
          </a:ln>
        </p:spPr>
      </p:sp>
      <p:sp>
        <p:nvSpPr>
          <p:cNvPr id="34" name="Text 32"/>
          <p:cNvSpPr/>
          <p:nvPr/>
        </p:nvSpPr>
        <p:spPr>
          <a:xfrm>
            <a:off x="4956048" y="4014216"/>
            <a:ext cx="379476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company_name Dropped</a:t>
            </a:r>
            <a:endParaRPr lang="en-US" sz="1200" dirty="0"/>
          </a:p>
        </p:txBody>
      </p:sp>
      <p:sp>
        <p:nvSpPr>
          <p:cNvPr id="35" name="Text 33"/>
          <p:cNvSpPr/>
          <p:nvPr/>
        </p:nvSpPr>
        <p:spPr>
          <a:xfrm>
            <a:off x="4956048" y="4270248"/>
            <a:ext cx="3794760" cy="54864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One-to-one mapping with industry — redundant feature. industry retained for broader analytical generalizability.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Univariate Analysis — Categorical Variables</a:t>
            </a:r>
            <a:endParaRPr lang="en-US" sz="2600" dirty="0"/>
          </a:p>
        </p:txBody>
      </p:sp>
      <p:pic>
        <p:nvPicPr>
          <p:cNvPr id="4" name="Image 0" descr="preencoded.png"/>
          <p:cNvPicPr>
            <a:picLocks noChangeAspect="1"/>
          </p:cNvPicPr>
          <p:nvPr/>
        </p:nvPicPr>
        <p:blipFill>
          <a:blip r:embed="rId3"/>
          <a:stretch>
            <a:fillRect/>
          </a:stretch>
        </p:blipFill>
        <p:spPr>
          <a:xfrm>
            <a:off x="274320" y="868680"/>
            <a:ext cx="8595360" cy="3200400"/>
          </a:xfrm>
          <a:prstGeom prst="rect">
            <a:avLst/>
          </a:prstGeom>
        </p:spPr>
      </p:pic>
      <p:sp>
        <p:nvSpPr>
          <p:cNvPr id="5" name="Shape 2"/>
          <p:cNvSpPr/>
          <p:nvPr/>
        </p:nvSpPr>
        <p:spPr>
          <a:xfrm>
            <a:off x="274320" y="4206240"/>
            <a:ext cx="2788920" cy="777240"/>
          </a:xfrm>
          <a:prstGeom prst="rect">
            <a:avLst/>
          </a:prstGeom>
          <a:solidFill>
            <a:srgbClr val="065A82"/>
          </a:solidFill>
          <a:ln/>
          <a:effectLst>
            <a:outerShdw blurRad="63500" dist="25400" dir="8100000" algn="bl" rotWithShape="0">
              <a:srgbClr val="000000">
                <a:alpha val="12000"/>
              </a:srgbClr>
            </a:outerShdw>
          </a:effectLst>
        </p:spPr>
      </p:sp>
      <p:sp>
        <p:nvSpPr>
          <p:cNvPr id="6" name="Text 3"/>
          <p:cNvSpPr/>
          <p:nvPr/>
        </p:nvSpPr>
        <p:spPr>
          <a:xfrm>
            <a:off x="320040" y="4224528"/>
            <a:ext cx="2697480" cy="7315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Perfectly Balanced Industries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Each of the 5 industries — Finance, Healthcare, Manufacturing, Retail, Technology — contains exactly 3,000 records.</a:t>
            </a:r>
            <a:endParaRPr lang="en-US" sz="950" dirty="0"/>
          </a:p>
        </p:txBody>
      </p:sp>
      <p:sp>
        <p:nvSpPr>
          <p:cNvPr id="7" name="Shape 4"/>
          <p:cNvSpPr/>
          <p:nvPr/>
        </p:nvSpPr>
        <p:spPr>
          <a:xfrm>
            <a:off x="3246120" y="4206240"/>
            <a:ext cx="2788920" cy="777240"/>
          </a:xfrm>
          <a:prstGeom prst="rect">
            <a:avLst/>
          </a:prstGeom>
          <a:solidFill>
            <a:srgbClr val="065A82"/>
          </a:solidFill>
          <a:ln/>
          <a:effectLst>
            <a:outerShdw blurRad="63500" dist="25400" dir="8100000" algn="bl" rotWithShape="0">
              <a:srgbClr val="000000">
                <a:alpha val="12000"/>
              </a:srgbClr>
            </a:outerShdw>
          </a:effectLst>
        </p:spPr>
      </p:sp>
      <p:sp>
        <p:nvSpPr>
          <p:cNvPr id="8" name="Text 5"/>
          <p:cNvSpPr/>
          <p:nvPr/>
        </p:nvSpPr>
        <p:spPr>
          <a:xfrm>
            <a:off x="3291840" y="4224528"/>
            <a:ext cx="2697480" cy="7315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Uniform Country Distribution</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All 4 countries — India, Germany, Canada, USA — contribute exactly 3,750 records each.</a:t>
            </a:r>
            <a:endParaRPr lang="en-US" sz="950" dirty="0"/>
          </a:p>
        </p:txBody>
      </p:sp>
      <p:sp>
        <p:nvSpPr>
          <p:cNvPr id="9" name="Shape 6"/>
          <p:cNvSpPr/>
          <p:nvPr/>
        </p:nvSpPr>
        <p:spPr>
          <a:xfrm>
            <a:off x="6217920" y="4206240"/>
            <a:ext cx="2788920" cy="777240"/>
          </a:xfrm>
          <a:prstGeom prst="rect">
            <a:avLst/>
          </a:prstGeom>
          <a:solidFill>
            <a:srgbClr val="065A82"/>
          </a:solidFill>
          <a:ln/>
          <a:effectLst>
            <a:outerShdw blurRad="63500" dist="25400" dir="8100000" algn="bl" rotWithShape="0">
              <a:srgbClr val="000000">
                <a:alpha val="12000"/>
              </a:srgbClr>
            </a:outerShdw>
          </a:effectLst>
        </p:spPr>
      </p:sp>
      <p:sp>
        <p:nvSpPr>
          <p:cNvPr id="10" name="Text 7"/>
          <p:cNvSpPr/>
          <p:nvPr/>
        </p:nvSpPr>
        <p:spPr>
          <a:xfrm>
            <a:off x="6263640" y="4224528"/>
            <a:ext cx="2697480" cy="7315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No Overrepresentation Bias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Balanced distribution eliminates sector or geographic bias in EDA and model building.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Univariate Analysis — Numerical Variables</a:t>
            </a:r>
            <a:endParaRPr lang="en-US" sz="2600" dirty="0"/>
          </a:p>
        </p:txBody>
      </p:sp>
      <p:pic>
        <p:nvPicPr>
          <p:cNvPr id="4" name="Image 0" descr="preencoded.png"/>
          <p:cNvPicPr>
            <a:picLocks noChangeAspect="1"/>
          </p:cNvPicPr>
          <p:nvPr/>
        </p:nvPicPr>
        <p:blipFill>
          <a:blip r:embed="rId3"/>
          <a:stretch>
            <a:fillRect/>
          </a:stretch>
        </p:blipFill>
        <p:spPr>
          <a:xfrm>
            <a:off x="228600" y="868680"/>
            <a:ext cx="8686800" cy="2743200"/>
          </a:xfrm>
          <a:prstGeom prst="rect">
            <a:avLst/>
          </a:prstGeom>
        </p:spPr>
      </p:pic>
      <p:sp>
        <p:nvSpPr>
          <p:cNvPr id="5" name="Text 2"/>
          <p:cNvSpPr/>
          <p:nvPr/>
        </p:nvSpPr>
        <p:spPr>
          <a:xfrm>
            <a:off x="320040" y="3703320"/>
            <a:ext cx="8503920" cy="292608"/>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Box Plot — Outlier Detection (Numerical Columns)</a:t>
            </a:r>
            <a:endParaRPr lang="en-US" sz="1400" dirty="0"/>
          </a:p>
        </p:txBody>
      </p:sp>
      <p:sp>
        <p:nvSpPr>
          <p:cNvPr id="6" name="Text 3"/>
          <p:cNvSpPr/>
          <p:nvPr/>
        </p:nvSpPr>
        <p:spPr>
          <a:xfrm>
            <a:off x="365760" y="4041648"/>
            <a:ext cx="8412480" cy="256032"/>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All numerical variables appear well distributed across their ranges, with no major outliers visible in any box plot.</a:t>
            </a:r>
            <a:endParaRPr lang="en-US" sz="1100" dirty="0"/>
          </a:p>
        </p:txBody>
      </p:sp>
      <p:sp>
        <p:nvSpPr>
          <p:cNvPr id="7" name="Text 4"/>
          <p:cNvSpPr/>
          <p:nvPr/>
        </p:nvSpPr>
        <p:spPr>
          <a:xfrm>
            <a:off x="365760" y="4315968"/>
            <a:ext cx="8412480" cy="256032"/>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The median line sits at the centre of every box, indicating the distributions are fairly symmetrical.</a:t>
            </a:r>
            <a:endParaRPr lang="en-US" sz="1100" dirty="0"/>
          </a:p>
        </p:txBody>
      </p:sp>
      <p:sp>
        <p:nvSpPr>
          <p:cNvPr id="8" name="Text 5"/>
          <p:cNvSpPr/>
          <p:nvPr/>
        </p:nvSpPr>
        <p:spPr>
          <a:xfrm>
            <a:off x="365760" y="4590288"/>
            <a:ext cx="8412480" cy="256032"/>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Employee count, revenue, profit margin, customer count, founded year and market rating all show clean, balanced spreads.</a:t>
            </a:r>
            <a:endParaRPr lang="en-US" sz="1100" dirty="0"/>
          </a:p>
        </p:txBody>
      </p:sp>
      <p:sp>
        <p:nvSpPr>
          <p:cNvPr id="9" name="Text 6"/>
          <p:cNvSpPr/>
          <p:nvPr/>
        </p:nvSpPr>
        <p:spPr>
          <a:xfrm>
            <a:off x="365760" y="4864608"/>
            <a:ext cx="8412480" cy="256032"/>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Overall, the dataset is clean and balanced with no extreme outliers requiring treatment before modelling.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Feature Engineering — Derived Categorical Columns</a:t>
            </a:r>
            <a:endParaRPr lang="en-US" sz="2600" dirty="0"/>
          </a:p>
        </p:txBody>
      </p:sp>
      <p:sp>
        <p:nvSpPr>
          <p:cNvPr id="4" name="Shape 2"/>
          <p:cNvSpPr/>
          <p:nvPr/>
        </p:nvSpPr>
        <p:spPr>
          <a:xfrm>
            <a:off x="274320" y="914400"/>
            <a:ext cx="8595360" cy="713232"/>
          </a:xfrm>
          <a:prstGeom prst="rect">
            <a:avLst/>
          </a:prstGeom>
          <a:solidFill>
            <a:srgbClr val="FFFFFF"/>
          </a:solidFill>
          <a:ln/>
          <a:effectLst>
            <a:outerShdw blurRad="50800" dist="25400" dir="8100000" algn="bl" rotWithShape="0">
              <a:srgbClr val="000000">
                <a:alpha val="10000"/>
              </a:srgbClr>
            </a:outerShdw>
          </a:effectLst>
        </p:spPr>
      </p:sp>
      <p:sp>
        <p:nvSpPr>
          <p:cNvPr id="5" name="Shape 3"/>
          <p:cNvSpPr/>
          <p:nvPr/>
        </p:nvSpPr>
        <p:spPr>
          <a:xfrm>
            <a:off x="274320" y="914400"/>
            <a:ext cx="73152" cy="713232"/>
          </a:xfrm>
          <a:prstGeom prst="rect">
            <a:avLst/>
          </a:prstGeom>
          <a:solidFill>
            <a:srgbClr val="1C7293"/>
          </a:solidFill>
          <a:ln w="12700">
            <a:solidFill>
              <a:srgbClr val="1C7293"/>
            </a:solidFill>
            <a:prstDash val="solid"/>
          </a:ln>
        </p:spPr>
      </p:sp>
      <p:sp>
        <p:nvSpPr>
          <p:cNvPr id="6" name="Text 4"/>
          <p:cNvSpPr/>
          <p:nvPr/>
        </p:nvSpPr>
        <p:spPr>
          <a:xfrm>
            <a:off x="457200" y="960120"/>
            <a:ext cx="2011680" cy="59436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revenue_category</a:t>
            </a:r>
            <a:endParaRPr lang="en-US" sz="1200" dirty="0"/>
          </a:p>
        </p:txBody>
      </p:sp>
      <p:sp>
        <p:nvSpPr>
          <p:cNvPr id="7" name="Text 5"/>
          <p:cNvSpPr/>
          <p:nvPr/>
        </p:nvSpPr>
        <p:spPr>
          <a:xfrm>
            <a:off x="2606040" y="960120"/>
            <a:ext cx="2560320" cy="594360"/>
          </a:xfrm>
          <a:prstGeom prst="rect">
            <a:avLst/>
          </a:prstGeom>
          <a:noFill/>
          <a:ln/>
        </p:spPr>
        <p:txBody>
          <a:bodyPr wrap="square" rtlCol="0" anchor="ctr"/>
          <a:lstStyle/>
          <a:p>
            <a:pPr marL="0" indent="0">
              <a:buNone/>
            </a:pPr>
            <a:r>
              <a:rPr lang="en-US" sz="1100" dirty="0">
                <a:solidFill>
                  <a:srgbClr val="1C7293"/>
                </a:solidFill>
                <a:latin typeface="Calibri" pitchFamily="34" charset="0"/>
                <a:ea typeface="Calibri" pitchFamily="34" charset="-122"/>
                <a:cs typeface="Calibri" pitchFamily="34" charset="-120"/>
              </a:rPr>
              <a:t>Low · Mid-Low · Mid-High · High</a:t>
            </a:r>
            <a:endParaRPr lang="en-US" sz="1100" dirty="0"/>
          </a:p>
        </p:txBody>
      </p:sp>
      <p:sp>
        <p:nvSpPr>
          <p:cNvPr id="8" name="Text 6"/>
          <p:cNvSpPr/>
          <p:nvPr/>
        </p:nvSpPr>
        <p:spPr>
          <a:xfrm>
            <a:off x="5257800" y="960120"/>
            <a:ext cx="3520440" cy="59436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Enables revenue-tier analysis without scale distortion</a:t>
            </a:r>
            <a:endParaRPr lang="en-US" sz="1050" dirty="0"/>
          </a:p>
        </p:txBody>
      </p:sp>
      <p:sp>
        <p:nvSpPr>
          <p:cNvPr id="9" name="Shape 7"/>
          <p:cNvSpPr/>
          <p:nvPr/>
        </p:nvSpPr>
        <p:spPr>
          <a:xfrm>
            <a:off x="274320" y="1719072"/>
            <a:ext cx="8595360" cy="713232"/>
          </a:xfrm>
          <a:prstGeom prst="rect">
            <a:avLst/>
          </a:prstGeom>
          <a:solidFill>
            <a:srgbClr val="FFFFFF"/>
          </a:solidFill>
          <a:ln/>
          <a:effectLst>
            <a:outerShdw blurRad="50800" dist="25400" dir="8100000" algn="bl" rotWithShape="0">
              <a:srgbClr val="000000">
                <a:alpha val="10000"/>
              </a:srgbClr>
            </a:outerShdw>
          </a:effectLst>
        </p:spPr>
      </p:sp>
      <p:sp>
        <p:nvSpPr>
          <p:cNvPr id="10" name="Shape 8"/>
          <p:cNvSpPr/>
          <p:nvPr/>
        </p:nvSpPr>
        <p:spPr>
          <a:xfrm>
            <a:off x="274320" y="1719072"/>
            <a:ext cx="73152" cy="713232"/>
          </a:xfrm>
          <a:prstGeom prst="rect">
            <a:avLst/>
          </a:prstGeom>
          <a:solidFill>
            <a:srgbClr val="1C7293"/>
          </a:solidFill>
          <a:ln w="12700">
            <a:solidFill>
              <a:srgbClr val="1C7293"/>
            </a:solidFill>
            <a:prstDash val="solid"/>
          </a:ln>
        </p:spPr>
      </p:sp>
      <p:sp>
        <p:nvSpPr>
          <p:cNvPr id="11" name="Text 9"/>
          <p:cNvSpPr/>
          <p:nvPr/>
        </p:nvSpPr>
        <p:spPr>
          <a:xfrm>
            <a:off x="457200" y="1764792"/>
            <a:ext cx="2011680" cy="59436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profit_category</a:t>
            </a:r>
            <a:endParaRPr lang="en-US" sz="1200" dirty="0"/>
          </a:p>
        </p:txBody>
      </p:sp>
      <p:sp>
        <p:nvSpPr>
          <p:cNvPr id="12" name="Text 10"/>
          <p:cNvSpPr/>
          <p:nvPr/>
        </p:nvSpPr>
        <p:spPr>
          <a:xfrm>
            <a:off x="2606040" y="1764792"/>
            <a:ext cx="2560320" cy="594360"/>
          </a:xfrm>
          <a:prstGeom prst="rect">
            <a:avLst/>
          </a:prstGeom>
          <a:noFill/>
          <a:ln/>
        </p:spPr>
        <p:txBody>
          <a:bodyPr wrap="square" rtlCol="0" anchor="ctr"/>
          <a:lstStyle/>
          <a:p>
            <a:pPr marL="0" indent="0">
              <a:buNone/>
            </a:pPr>
            <a:r>
              <a:rPr lang="en-US" sz="1100" dirty="0">
                <a:solidFill>
                  <a:srgbClr val="1C7293"/>
                </a:solidFill>
                <a:latin typeface="Calibri" pitchFamily="34" charset="0"/>
                <a:ea typeface="Calibri" pitchFamily="34" charset="-122"/>
                <a:cs typeface="Calibri" pitchFamily="34" charset="-120"/>
              </a:rPr>
              <a:t>Very Low → Very High Profit</a:t>
            </a:r>
            <a:endParaRPr lang="en-US" sz="1100" dirty="0"/>
          </a:p>
        </p:txBody>
      </p:sp>
      <p:sp>
        <p:nvSpPr>
          <p:cNvPr id="13" name="Text 11"/>
          <p:cNvSpPr/>
          <p:nvPr/>
        </p:nvSpPr>
        <p:spPr>
          <a:xfrm>
            <a:off x="5257800" y="1764792"/>
            <a:ext cx="3520440" cy="59436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Categorizes operational efficiency across standard profit ranges</a:t>
            </a:r>
            <a:endParaRPr lang="en-US" sz="1050" dirty="0"/>
          </a:p>
        </p:txBody>
      </p:sp>
      <p:sp>
        <p:nvSpPr>
          <p:cNvPr id="14" name="Shape 12"/>
          <p:cNvSpPr/>
          <p:nvPr/>
        </p:nvSpPr>
        <p:spPr>
          <a:xfrm>
            <a:off x="274320" y="2523744"/>
            <a:ext cx="8595360" cy="713232"/>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274320" y="2523744"/>
            <a:ext cx="73152" cy="713232"/>
          </a:xfrm>
          <a:prstGeom prst="rect">
            <a:avLst/>
          </a:prstGeom>
          <a:solidFill>
            <a:srgbClr val="1C7293"/>
          </a:solidFill>
          <a:ln w="12700">
            <a:solidFill>
              <a:srgbClr val="1C7293"/>
            </a:solidFill>
            <a:prstDash val="solid"/>
          </a:ln>
        </p:spPr>
      </p:sp>
      <p:sp>
        <p:nvSpPr>
          <p:cNvPr id="16" name="Text 14"/>
          <p:cNvSpPr/>
          <p:nvPr/>
        </p:nvSpPr>
        <p:spPr>
          <a:xfrm>
            <a:off x="457200" y="2569464"/>
            <a:ext cx="2011680" cy="59436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rating_category</a:t>
            </a:r>
            <a:endParaRPr lang="en-US" sz="1200" dirty="0"/>
          </a:p>
        </p:txBody>
      </p:sp>
      <p:sp>
        <p:nvSpPr>
          <p:cNvPr id="17" name="Text 15"/>
          <p:cNvSpPr/>
          <p:nvPr/>
        </p:nvSpPr>
        <p:spPr>
          <a:xfrm>
            <a:off x="2606040" y="2569464"/>
            <a:ext cx="2560320" cy="594360"/>
          </a:xfrm>
          <a:prstGeom prst="rect">
            <a:avLst/>
          </a:prstGeom>
          <a:noFill/>
          <a:ln/>
        </p:spPr>
        <p:txBody>
          <a:bodyPr wrap="square" rtlCol="0" anchor="ctr"/>
          <a:lstStyle/>
          <a:p>
            <a:pPr marL="0" indent="0">
              <a:buNone/>
            </a:pPr>
            <a:r>
              <a:rPr lang="en-US" sz="1100" dirty="0">
                <a:solidFill>
                  <a:srgbClr val="1C7293"/>
                </a:solidFill>
                <a:latin typeface="Calibri" pitchFamily="34" charset="0"/>
                <a:ea typeface="Calibri" pitchFamily="34" charset="-122"/>
                <a:cs typeface="Calibri" pitchFamily="34" charset="-120"/>
              </a:rPr>
              <a:t>Low (&lt;2) · Medium (2–4) · High (≥4)</a:t>
            </a:r>
            <a:endParaRPr lang="en-US" sz="1100" dirty="0"/>
          </a:p>
        </p:txBody>
      </p:sp>
      <p:sp>
        <p:nvSpPr>
          <p:cNvPr id="18" name="Text 16"/>
          <p:cNvSpPr/>
          <p:nvPr/>
        </p:nvSpPr>
        <p:spPr>
          <a:xfrm>
            <a:off x="5257800" y="2569464"/>
            <a:ext cx="3520440" cy="59436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Converts continuous market_rating to interpretable sentiment tiers</a:t>
            </a:r>
            <a:endParaRPr lang="en-US" sz="1050" dirty="0"/>
          </a:p>
        </p:txBody>
      </p:sp>
      <p:sp>
        <p:nvSpPr>
          <p:cNvPr id="19" name="Shape 17"/>
          <p:cNvSpPr/>
          <p:nvPr/>
        </p:nvSpPr>
        <p:spPr>
          <a:xfrm>
            <a:off x="274320" y="3328416"/>
            <a:ext cx="8595360" cy="713232"/>
          </a:xfrm>
          <a:prstGeom prst="rect">
            <a:avLst/>
          </a:prstGeom>
          <a:solidFill>
            <a:srgbClr val="FFFFFF"/>
          </a:solidFill>
          <a:ln/>
          <a:effectLst>
            <a:outerShdw blurRad="50800" dist="25400" dir="8100000" algn="bl" rotWithShape="0">
              <a:srgbClr val="000000">
                <a:alpha val="10000"/>
              </a:srgbClr>
            </a:outerShdw>
          </a:effectLst>
        </p:spPr>
      </p:sp>
      <p:sp>
        <p:nvSpPr>
          <p:cNvPr id="20" name="Shape 18"/>
          <p:cNvSpPr/>
          <p:nvPr/>
        </p:nvSpPr>
        <p:spPr>
          <a:xfrm>
            <a:off x="274320" y="3328416"/>
            <a:ext cx="73152" cy="713232"/>
          </a:xfrm>
          <a:prstGeom prst="rect">
            <a:avLst/>
          </a:prstGeom>
          <a:solidFill>
            <a:srgbClr val="1C7293"/>
          </a:solidFill>
          <a:ln w="12700">
            <a:solidFill>
              <a:srgbClr val="1C7293"/>
            </a:solidFill>
            <a:prstDash val="solid"/>
          </a:ln>
        </p:spPr>
      </p:sp>
      <p:sp>
        <p:nvSpPr>
          <p:cNvPr id="21" name="Text 19"/>
          <p:cNvSpPr/>
          <p:nvPr/>
        </p:nvSpPr>
        <p:spPr>
          <a:xfrm>
            <a:off x="457200" y="3374136"/>
            <a:ext cx="2011680" cy="59436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customer_category</a:t>
            </a:r>
            <a:endParaRPr lang="en-US" sz="1200" dirty="0"/>
          </a:p>
        </p:txBody>
      </p:sp>
      <p:sp>
        <p:nvSpPr>
          <p:cNvPr id="22" name="Text 20"/>
          <p:cNvSpPr/>
          <p:nvPr/>
        </p:nvSpPr>
        <p:spPr>
          <a:xfrm>
            <a:off x="2606040" y="3374136"/>
            <a:ext cx="2560320" cy="594360"/>
          </a:xfrm>
          <a:prstGeom prst="rect">
            <a:avLst/>
          </a:prstGeom>
          <a:noFill/>
          <a:ln/>
        </p:spPr>
        <p:txBody>
          <a:bodyPr wrap="square" rtlCol="0" anchor="ctr"/>
          <a:lstStyle/>
          <a:p>
            <a:pPr marL="0" indent="0">
              <a:buNone/>
            </a:pPr>
            <a:r>
              <a:rPr lang="en-US" sz="1100" dirty="0">
                <a:solidFill>
                  <a:srgbClr val="1C7293"/>
                </a:solidFill>
                <a:latin typeface="Calibri" pitchFamily="34" charset="0"/>
                <a:ea typeface="Calibri" pitchFamily="34" charset="-122"/>
                <a:cs typeface="Calibri" pitchFamily="34" charset="-120"/>
              </a:rPr>
              <a:t>Very Low → Very High Customers</a:t>
            </a:r>
            <a:endParaRPr lang="en-US" sz="1100" dirty="0"/>
          </a:p>
        </p:txBody>
      </p:sp>
      <p:sp>
        <p:nvSpPr>
          <p:cNvPr id="23" name="Text 21"/>
          <p:cNvSpPr/>
          <p:nvPr/>
        </p:nvSpPr>
        <p:spPr>
          <a:xfrm>
            <a:off x="5257800" y="3374136"/>
            <a:ext cx="3520440" cy="59436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Segments customer scale for bivariate and multivariate comparison</a:t>
            </a:r>
            <a:endParaRPr lang="en-US" sz="1050" dirty="0"/>
          </a:p>
        </p:txBody>
      </p:sp>
      <p:sp>
        <p:nvSpPr>
          <p:cNvPr id="24" name="Shape 22"/>
          <p:cNvSpPr/>
          <p:nvPr/>
        </p:nvSpPr>
        <p:spPr>
          <a:xfrm>
            <a:off x="274320" y="4133088"/>
            <a:ext cx="8595360" cy="713232"/>
          </a:xfrm>
          <a:prstGeom prst="rect">
            <a:avLst/>
          </a:prstGeom>
          <a:solidFill>
            <a:srgbClr val="FFFFFF"/>
          </a:solidFill>
          <a:ln/>
          <a:effectLst>
            <a:outerShdw blurRad="50800" dist="25400" dir="8100000" algn="bl" rotWithShape="0">
              <a:srgbClr val="000000">
                <a:alpha val="10000"/>
              </a:srgbClr>
            </a:outerShdw>
          </a:effectLst>
        </p:spPr>
      </p:sp>
      <p:sp>
        <p:nvSpPr>
          <p:cNvPr id="25" name="Shape 23"/>
          <p:cNvSpPr/>
          <p:nvPr/>
        </p:nvSpPr>
        <p:spPr>
          <a:xfrm>
            <a:off x="274320" y="4133088"/>
            <a:ext cx="73152" cy="713232"/>
          </a:xfrm>
          <a:prstGeom prst="rect">
            <a:avLst/>
          </a:prstGeom>
          <a:solidFill>
            <a:srgbClr val="1C7293"/>
          </a:solidFill>
          <a:ln w="12700">
            <a:solidFill>
              <a:srgbClr val="1C7293"/>
            </a:solidFill>
            <a:prstDash val="solid"/>
          </a:ln>
        </p:spPr>
      </p:sp>
      <p:sp>
        <p:nvSpPr>
          <p:cNvPr id="26" name="Text 24"/>
          <p:cNvSpPr/>
          <p:nvPr/>
        </p:nvSpPr>
        <p:spPr>
          <a:xfrm>
            <a:off x="457200" y="4178808"/>
            <a:ext cx="2011680" cy="59436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founded_period</a:t>
            </a:r>
            <a:endParaRPr lang="en-US" sz="1200" dirty="0"/>
          </a:p>
        </p:txBody>
      </p:sp>
      <p:sp>
        <p:nvSpPr>
          <p:cNvPr id="27" name="Text 25"/>
          <p:cNvSpPr/>
          <p:nvPr/>
        </p:nvSpPr>
        <p:spPr>
          <a:xfrm>
            <a:off x="2606040" y="4178808"/>
            <a:ext cx="2560320" cy="594360"/>
          </a:xfrm>
          <a:prstGeom prst="rect">
            <a:avLst/>
          </a:prstGeom>
          <a:noFill/>
          <a:ln/>
        </p:spPr>
        <p:txBody>
          <a:bodyPr wrap="square" rtlCol="0" anchor="ctr"/>
          <a:lstStyle/>
          <a:p>
            <a:pPr marL="0" indent="0">
              <a:buNone/>
            </a:pPr>
            <a:r>
              <a:rPr lang="en-US" sz="1100" dirty="0">
                <a:solidFill>
                  <a:srgbClr val="1C7293"/>
                </a:solidFill>
                <a:latin typeface="Calibri" pitchFamily="34" charset="0"/>
                <a:ea typeface="Calibri" pitchFamily="34" charset="-122"/>
                <a:cs typeface="Calibri" pitchFamily="34" charset="-120"/>
              </a:rPr>
              <a:t>1990s · 2000s · 2010s</a:t>
            </a:r>
            <a:endParaRPr lang="en-US" sz="1100" dirty="0"/>
          </a:p>
        </p:txBody>
      </p:sp>
      <p:sp>
        <p:nvSpPr>
          <p:cNvPr id="28" name="Text 26"/>
          <p:cNvSpPr/>
          <p:nvPr/>
        </p:nvSpPr>
        <p:spPr>
          <a:xfrm>
            <a:off x="5257800" y="4178808"/>
            <a:ext cx="3520440" cy="594360"/>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Groups company age into business generations for cohort analysis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Bivariate Analysis — Industry-Level Performance</a:t>
            </a:r>
            <a:endParaRPr lang="en-US" sz="2600" dirty="0"/>
          </a:p>
        </p:txBody>
      </p:sp>
      <p:pic>
        <p:nvPicPr>
          <p:cNvPr id="4" name="Image 0" descr="preencoded.png"/>
          <p:cNvPicPr>
            <a:picLocks noChangeAspect="1"/>
          </p:cNvPicPr>
          <p:nvPr/>
        </p:nvPicPr>
        <p:blipFill>
          <a:blip r:embed="rId3"/>
          <a:stretch>
            <a:fillRect/>
          </a:stretch>
        </p:blipFill>
        <p:spPr>
          <a:xfrm>
            <a:off x="960120" y="960120"/>
            <a:ext cx="7223760" cy="3246120"/>
          </a:xfrm>
          <a:prstGeom prst="rect">
            <a:avLst/>
          </a:prstGeom>
        </p:spPr>
      </p:pic>
      <p:sp>
        <p:nvSpPr>
          <p:cNvPr id="5" name="Shape 2"/>
          <p:cNvSpPr/>
          <p:nvPr/>
        </p:nvSpPr>
        <p:spPr>
          <a:xfrm>
            <a:off x="274320" y="4370832"/>
            <a:ext cx="8595360" cy="640080"/>
          </a:xfrm>
          <a:prstGeom prst="rect">
            <a:avLst/>
          </a:prstGeom>
          <a:solidFill>
            <a:srgbClr val="D4EEF7"/>
          </a:solidFill>
          <a:ln w="12700">
            <a:solidFill>
              <a:srgbClr val="C5DFE8"/>
            </a:solidFill>
            <a:prstDash val="solid"/>
          </a:ln>
        </p:spPr>
      </p:sp>
      <p:sp>
        <p:nvSpPr>
          <p:cNvPr id="6" name="Text 3"/>
          <p:cNvSpPr/>
          <p:nvPr/>
        </p:nvSpPr>
        <p:spPr>
          <a:xfrm>
            <a:off x="411480" y="4389120"/>
            <a:ext cx="8321040" cy="603504"/>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Key Insight:  </a:t>
            </a:r>
            <a:r>
              <a:rPr lang="en-US" sz="1100" dirty="0">
                <a:solidFill>
                  <a:srgbClr val="2D3748"/>
                </a:solidFill>
                <a:latin typeface="Calibri" pitchFamily="34" charset="0"/>
                <a:ea typeface="Calibri" pitchFamily="34" charset="-122"/>
                <a:cs typeface="Calibri" pitchFamily="34" charset="-120"/>
              </a:rPr>
              <a:t>Medium-rated companies dominate across all industries. Retail contains the largest number of High-rated companies, while Manufacturing and Technology exhibit the highest count of Low-rated companies. Overall, the rating distribution is broadly similar across all five industries.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Bivariate Analysis — Country-Level Insights</a:t>
            </a:r>
            <a:endParaRPr lang="en-US" sz="2600" dirty="0"/>
          </a:p>
        </p:txBody>
      </p:sp>
      <p:sp>
        <p:nvSpPr>
          <p:cNvPr id="4" name="Shape 2"/>
          <p:cNvSpPr/>
          <p:nvPr/>
        </p:nvSpPr>
        <p:spPr>
          <a:xfrm>
            <a:off x="274320" y="9144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274320" y="914400"/>
            <a:ext cx="73152" cy="1234440"/>
          </a:xfrm>
          <a:prstGeom prst="rect">
            <a:avLst/>
          </a:prstGeom>
          <a:solidFill>
            <a:srgbClr val="065A82"/>
          </a:solidFill>
          <a:ln w="12700">
            <a:solidFill>
              <a:srgbClr val="065A82"/>
            </a:solidFill>
            <a:prstDash val="solid"/>
          </a:ln>
        </p:spPr>
      </p:sp>
      <p:sp>
        <p:nvSpPr>
          <p:cNvPr id="6" name="Text 4"/>
          <p:cNvSpPr/>
          <p:nvPr/>
        </p:nvSpPr>
        <p:spPr>
          <a:xfrm>
            <a:off x="438912" y="9692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Revenue Distribution</a:t>
            </a:r>
            <a:endParaRPr lang="en-US" sz="1200" dirty="0"/>
          </a:p>
        </p:txBody>
      </p:sp>
      <p:sp>
        <p:nvSpPr>
          <p:cNvPr id="7" name="Text 5"/>
          <p:cNvSpPr/>
          <p:nvPr/>
        </p:nvSpPr>
        <p:spPr>
          <a:xfrm>
            <a:off x="438912" y="12618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All 4 countries show near-identical revenue distributions. India marginally leads in the Very High revenue tier. USA maintains a strong High segment.</a:t>
            </a:r>
            <a:endParaRPr lang="en-US" sz="1050" dirty="0"/>
          </a:p>
        </p:txBody>
      </p:sp>
      <p:sp>
        <p:nvSpPr>
          <p:cNvPr id="8" name="Shape 6"/>
          <p:cNvSpPr/>
          <p:nvPr/>
        </p:nvSpPr>
        <p:spPr>
          <a:xfrm>
            <a:off x="4709160" y="9144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9" name="Shape 7"/>
          <p:cNvSpPr/>
          <p:nvPr/>
        </p:nvSpPr>
        <p:spPr>
          <a:xfrm>
            <a:off x="4709160" y="914400"/>
            <a:ext cx="73152" cy="1234440"/>
          </a:xfrm>
          <a:prstGeom prst="rect">
            <a:avLst/>
          </a:prstGeom>
          <a:solidFill>
            <a:srgbClr val="065A82"/>
          </a:solidFill>
          <a:ln w="12700">
            <a:solidFill>
              <a:srgbClr val="065A82"/>
            </a:solidFill>
            <a:prstDash val="solid"/>
          </a:ln>
        </p:spPr>
      </p:sp>
      <p:sp>
        <p:nvSpPr>
          <p:cNvPr id="10" name="Text 8"/>
          <p:cNvSpPr/>
          <p:nvPr/>
        </p:nvSpPr>
        <p:spPr>
          <a:xfrm>
            <a:off x="4873752" y="9692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Profit Margin</a:t>
            </a:r>
            <a:endParaRPr lang="en-US" sz="1200" dirty="0"/>
          </a:p>
        </p:txBody>
      </p:sp>
      <p:sp>
        <p:nvSpPr>
          <p:cNvPr id="11" name="Text 9"/>
          <p:cNvSpPr/>
          <p:nvPr/>
        </p:nvSpPr>
        <p:spPr>
          <a:xfrm>
            <a:off x="4873752" y="12618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Average profit margin hovers around 25% across all countries. India shows a marginal advantage at 25.1%. No country significantly outperforms.</a:t>
            </a:r>
            <a:endParaRPr lang="en-US" sz="1050" dirty="0"/>
          </a:p>
        </p:txBody>
      </p:sp>
      <p:sp>
        <p:nvSpPr>
          <p:cNvPr id="12" name="Shape 10"/>
          <p:cNvSpPr/>
          <p:nvPr/>
        </p:nvSpPr>
        <p:spPr>
          <a:xfrm>
            <a:off x="274320" y="22860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13" name="Shape 11"/>
          <p:cNvSpPr/>
          <p:nvPr/>
        </p:nvSpPr>
        <p:spPr>
          <a:xfrm>
            <a:off x="274320" y="2286000"/>
            <a:ext cx="73152" cy="1234440"/>
          </a:xfrm>
          <a:prstGeom prst="rect">
            <a:avLst/>
          </a:prstGeom>
          <a:solidFill>
            <a:srgbClr val="065A82"/>
          </a:solidFill>
          <a:ln w="12700">
            <a:solidFill>
              <a:srgbClr val="065A82"/>
            </a:solidFill>
            <a:prstDash val="solid"/>
          </a:ln>
        </p:spPr>
      </p:sp>
      <p:sp>
        <p:nvSpPr>
          <p:cNvPr id="14" name="Text 12"/>
          <p:cNvSpPr/>
          <p:nvPr/>
        </p:nvSpPr>
        <p:spPr>
          <a:xfrm>
            <a:off x="438912" y="23408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Employee Count</a:t>
            </a:r>
            <a:endParaRPr lang="en-US" sz="1200" dirty="0"/>
          </a:p>
        </p:txBody>
      </p:sp>
      <p:sp>
        <p:nvSpPr>
          <p:cNvPr id="15" name="Text 13"/>
          <p:cNvSpPr/>
          <p:nvPr/>
        </p:nvSpPr>
        <p:spPr>
          <a:xfrm>
            <a:off x="438912" y="26334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Germany and USA companies are marginally larger on average but differences are negligible. Canada shows relatively stronger presence of smaller firms.</a:t>
            </a:r>
            <a:endParaRPr lang="en-US" sz="1050" dirty="0"/>
          </a:p>
        </p:txBody>
      </p:sp>
      <p:sp>
        <p:nvSpPr>
          <p:cNvPr id="16" name="Shape 14"/>
          <p:cNvSpPr/>
          <p:nvPr/>
        </p:nvSpPr>
        <p:spPr>
          <a:xfrm>
            <a:off x="4709160" y="22860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17" name="Shape 15"/>
          <p:cNvSpPr/>
          <p:nvPr/>
        </p:nvSpPr>
        <p:spPr>
          <a:xfrm>
            <a:off x="4709160" y="2286000"/>
            <a:ext cx="73152" cy="1234440"/>
          </a:xfrm>
          <a:prstGeom prst="rect">
            <a:avLst/>
          </a:prstGeom>
          <a:solidFill>
            <a:srgbClr val="065A82"/>
          </a:solidFill>
          <a:ln w="12700">
            <a:solidFill>
              <a:srgbClr val="065A82"/>
            </a:solidFill>
            <a:prstDash val="solid"/>
          </a:ln>
        </p:spPr>
      </p:sp>
      <p:sp>
        <p:nvSpPr>
          <p:cNvPr id="18" name="Text 16"/>
          <p:cNvSpPr/>
          <p:nvPr/>
        </p:nvSpPr>
        <p:spPr>
          <a:xfrm>
            <a:off x="4873752" y="23408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Customer Count</a:t>
            </a:r>
            <a:endParaRPr lang="en-US" sz="1200" dirty="0"/>
          </a:p>
        </p:txBody>
      </p:sp>
      <p:sp>
        <p:nvSpPr>
          <p:cNvPr id="19" name="Text 17"/>
          <p:cNvSpPr/>
          <p:nvPr/>
        </p:nvSpPr>
        <p:spPr>
          <a:xfrm>
            <a:off x="4873752" y="26334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Canada leads slightly in High and Very High customer categories. Average customer count varies minimally across all countries.</a:t>
            </a:r>
            <a:endParaRPr lang="en-US" sz="1050" dirty="0"/>
          </a:p>
        </p:txBody>
      </p:sp>
      <p:sp>
        <p:nvSpPr>
          <p:cNvPr id="20" name="Shape 18"/>
          <p:cNvSpPr/>
          <p:nvPr/>
        </p:nvSpPr>
        <p:spPr>
          <a:xfrm>
            <a:off x="274320" y="36576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21" name="Shape 19"/>
          <p:cNvSpPr/>
          <p:nvPr/>
        </p:nvSpPr>
        <p:spPr>
          <a:xfrm>
            <a:off x="274320" y="3657600"/>
            <a:ext cx="73152" cy="1234440"/>
          </a:xfrm>
          <a:prstGeom prst="rect">
            <a:avLst/>
          </a:prstGeom>
          <a:solidFill>
            <a:srgbClr val="065A82"/>
          </a:solidFill>
          <a:ln w="12700">
            <a:solidFill>
              <a:srgbClr val="065A82"/>
            </a:solidFill>
            <a:prstDash val="solid"/>
          </a:ln>
        </p:spPr>
      </p:sp>
      <p:sp>
        <p:nvSpPr>
          <p:cNvPr id="22" name="Text 20"/>
          <p:cNvSpPr/>
          <p:nvPr/>
        </p:nvSpPr>
        <p:spPr>
          <a:xfrm>
            <a:off x="438912" y="37124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Market Rating</a:t>
            </a:r>
            <a:endParaRPr lang="en-US" sz="1200" dirty="0"/>
          </a:p>
        </p:txBody>
      </p:sp>
      <p:sp>
        <p:nvSpPr>
          <p:cNvPr id="23" name="Text 21"/>
          <p:cNvSpPr/>
          <p:nvPr/>
        </p:nvSpPr>
        <p:spPr>
          <a:xfrm>
            <a:off x="438912" y="40050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Average rating is identical (2.5) across all countries — global uniformity in market perception. Medium ratings dominate in every geography.</a:t>
            </a:r>
            <a:endParaRPr lang="en-US" sz="1050" dirty="0"/>
          </a:p>
        </p:txBody>
      </p:sp>
      <p:sp>
        <p:nvSpPr>
          <p:cNvPr id="24" name="Shape 22"/>
          <p:cNvSpPr/>
          <p:nvPr/>
        </p:nvSpPr>
        <p:spPr>
          <a:xfrm>
            <a:off x="4709160" y="36576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25" name="Shape 23"/>
          <p:cNvSpPr/>
          <p:nvPr/>
        </p:nvSpPr>
        <p:spPr>
          <a:xfrm>
            <a:off x="4709160" y="3657600"/>
            <a:ext cx="73152" cy="1234440"/>
          </a:xfrm>
          <a:prstGeom prst="rect">
            <a:avLst/>
          </a:prstGeom>
          <a:solidFill>
            <a:srgbClr val="065A82"/>
          </a:solidFill>
          <a:ln w="12700">
            <a:solidFill>
              <a:srgbClr val="065A82"/>
            </a:solidFill>
            <a:prstDash val="solid"/>
          </a:ln>
        </p:spPr>
      </p:sp>
      <p:sp>
        <p:nvSpPr>
          <p:cNvPr id="26" name="Text 24"/>
          <p:cNvSpPr/>
          <p:nvPr/>
        </p:nvSpPr>
        <p:spPr>
          <a:xfrm>
            <a:off x="4873752" y="3712464"/>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Founded Period</a:t>
            </a:r>
            <a:endParaRPr lang="en-US" sz="1200" dirty="0"/>
          </a:p>
        </p:txBody>
      </p:sp>
      <p:sp>
        <p:nvSpPr>
          <p:cNvPr id="27" name="Text 25"/>
          <p:cNvSpPr/>
          <p:nvPr/>
        </p:nvSpPr>
        <p:spPr>
          <a:xfrm>
            <a:off x="4873752" y="4005072"/>
            <a:ext cx="3931920" cy="804672"/>
          </a:xfrm>
          <a:prstGeom prst="rect">
            <a:avLst/>
          </a:prstGeom>
          <a:noFill/>
          <a:ln/>
        </p:spPr>
        <p:txBody>
          <a:bodyPr wrap="square" rtlCol="0" anchor="ctr"/>
          <a:lstStyle/>
          <a:p>
            <a:pPr marL="0" indent="0">
              <a:buNone/>
            </a:pPr>
            <a:r>
              <a:rPr lang="en-US" sz="1050" dirty="0">
                <a:solidFill>
                  <a:srgbClr val="2D3748"/>
                </a:solidFill>
                <a:latin typeface="Calibri" pitchFamily="34" charset="0"/>
                <a:ea typeface="Calibri" pitchFamily="34" charset="-122"/>
                <a:cs typeface="Calibri" pitchFamily="34" charset="-120"/>
              </a:rPr>
              <a:t>All countries share an average founding year of 2004, indicating similar business maturity levels. The 2000s represent the peak founding decade globally.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Bivariate Analysis — Employee Count Relationships</a:t>
            </a:r>
            <a:endParaRPr lang="en-US" sz="2600" dirty="0"/>
          </a:p>
        </p:txBody>
      </p:sp>
      <p:pic>
        <p:nvPicPr>
          <p:cNvPr id="4" name="Image 0" descr="preencoded.png"/>
          <p:cNvPicPr>
            <a:picLocks noChangeAspect="1"/>
          </p:cNvPicPr>
          <p:nvPr/>
        </p:nvPicPr>
        <p:blipFill>
          <a:blip r:embed="rId3"/>
          <a:stretch>
            <a:fillRect/>
          </a:stretch>
        </p:blipFill>
        <p:spPr>
          <a:xfrm>
            <a:off x="228600" y="868680"/>
            <a:ext cx="8686800" cy="3108960"/>
          </a:xfrm>
          <a:prstGeom prst="rect">
            <a:avLst/>
          </a:prstGeom>
        </p:spPr>
      </p:pic>
      <p:sp>
        <p:nvSpPr>
          <p:cNvPr id="5" name="Text 2"/>
          <p:cNvSpPr/>
          <p:nvPr/>
        </p:nvSpPr>
        <p:spPr>
          <a:xfrm>
            <a:off x="365760" y="4069080"/>
            <a:ext cx="8412480" cy="237744"/>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Profit margin percentage does NOT increase with employee size — all employee-size bands show nearly identical profit distributions.</a:t>
            </a:r>
            <a:endParaRPr lang="en-US" sz="1100" dirty="0"/>
          </a:p>
        </p:txBody>
      </p:sp>
      <p:sp>
        <p:nvSpPr>
          <p:cNvPr id="6" name="Text 3"/>
          <p:cNvSpPr/>
          <p:nvPr/>
        </p:nvSpPr>
        <p:spPr>
          <a:xfrm>
            <a:off x="365760" y="4325112"/>
            <a:ext cx="8412480" cy="237744"/>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Companies grow in scale but NOT in efficiency: workforce expansion does not translate into superior margin performance.</a:t>
            </a:r>
            <a:endParaRPr lang="en-US" sz="1100" dirty="0"/>
          </a:p>
        </p:txBody>
      </p:sp>
      <p:sp>
        <p:nvSpPr>
          <p:cNvPr id="7" name="Text 4"/>
          <p:cNvSpPr/>
          <p:nvPr/>
        </p:nvSpPr>
        <p:spPr>
          <a:xfrm>
            <a:off x="365760" y="4581144"/>
            <a:ext cx="8412480" cy="237744"/>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Larger firms (3500–6000 employees) show the highest customer counts, but customer acquisition is not solely driven by workforce size.</a:t>
            </a:r>
            <a:endParaRPr lang="en-US" sz="1100" dirty="0"/>
          </a:p>
        </p:txBody>
      </p:sp>
      <p:sp>
        <p:nvSpPr>
          <p:cNvPr id="8" name="Text 5"/>
          <p:cNvSpPr/>
          <p:nvPr/>
        </p:nvSpPr>
        <p:spPr>
          <a:xfrm>
            <a:off x="365760" y="4837176"/>
            <a:ext cx="8412480" cy="237744"/>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  </a:t>
            </a:r>
            <a:r>
              <a:rPr lang="en-US" sz="1100" dirty="0">
                <a:solidFill>
                  <a:srgbClr val="2D3748"/>
                </a:solidFill>
                <a:latin typeface="Calibri" pitchFamily="34" charset="0"/>
                <a:ea typeface="Calibri" pitchFamily="34" charset="-122"/>
                <a:cs typeface="Calibri" pitchFamily="34" charset="-120"/>
              </a:rPr>
              <a:t>Market ratings are spread uniformly across all employee-size categories — workforce size has limited influence on market perception.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Bivariate Analysis — Revenue, Profitability &amp; Market Rating</a:t>
            </a:r>
            <a:endParaRPr lang="en-US" sz="2600" dirty="0"/>
          </a:p>
        </p:txBody>
      </p:sp>
      <p:pic>
        <p:nvPicPr>
          <p:cNvPr id="4" name="Image 0" descr="preencoded.png"/>
          <p:cNvPicPr>
            <a:picLocks noChangeAspect="1"/>
          </p:cNvPicPr>
          <p:nvPr/>
        </p:nvPicPr>
        <p:blipFill>
          <a:blip r:embed="rId3"/>
          <a:stretch>
            <a:fillRect/>
          </a:stretch>
        </p:blipFill>
        <p:spPr>
          <a:xfrm>
            <a:off x="228600" y="868680"/>
            <a:ext cx="8686800" cy="2880360"/>
          </a:xfrm>
          <a:prstGeom prst="rect">
            <a:avLst/>
          </a:prstGeom>
        </p:spPr>
      </p:pic>
      <p:sp>
        <p:nvSpPr>
          <p:cNvPr id="5" name="Shape 2"/>
          <p:cNvSpPr/>
          <p:nvPr/>
        </p:nvSpPr>
        <p:spPr>
          <a:xfrm>
            <a:off x="328002" y="3822192"/>
            <a:ext cx="4206240" cy="530352"/>
          </a:xfrm>
          <a:prstGeom prst="rect">
            <a:avLst/>
          </a:prstGeom>
          <a:solidFill>
            <a:srgbClr val="D4EEF7"/>
          </a:solidFill>
          <a:ln w="12700">
            <a:solidFill>
              <a:srgbClr val="C5DFE8"/>
            </a:solidFill>
            <a:prstDash val="solid"/>
          </a:ln>
        </p:spPr>
      </p:sp>
      <p:sp>
        <p:nvSpPr>
          <p:cNvPr id="6" name="Text 3"/>
          <p:cNvSpPr/>
          <p:nvPr/>
        </p:nvSpPr>
        <p:spPr>
          <a:xfrm>
            <a:off x="384048" y="3895344"/>
            <a:ext cx="1188720" cy="457200"/>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Revenue ≠ Profitability: </a:t>
            </a:r>
            <a:endParaRPr lang="en-US" sz="1050" dirty="0"/>
          </a:p>
        </p:txBody>
      </p:sp>
      <p:sp>
        <p:nvSpPr>
          <p:cNvPr id="7" name="Text 4"/>
          <p:cNvSpPr/>
          <p:nvPr/>
        </p:nvSpPr>
        <p:spPr>
          <a:xfrm>
            <a:off x="1137099" y="3908323"/>
            <a:ext cx="3681789" cy="45720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High revenue does not guarantee high profit margins. Profit distributions are nearly identical across all revenue bands.</a:t>
            </a:r>
            <a:endParaRPr lang="en-US" sz="1000" dirty="0"/>
          </a:p>
        </p:txBody>
      </p:sp>
      <p:sp>
        <p:nvSpPr>
          <p:cNvPr id="8" name="Shape 5"/>
          <p:cNvSpPr/>
          <p:nvPr/>
        </p:nvSpPr>
        <p:spPr>
          <a:xfrm>
            <a:off x="4782900" y="3858768"/>
            <a:ext cx="4206240" cy="530352"/>
          </a:xfrm>
          <a:prstGeom prst="rect">
            <a:avLst/>
          </a:prstGeom>
          <a:solidFill>
            <a:srgbClr val="D4EEF7"/>
          </a:solidFill>
          <a:ln w="12700">
            <a:solidFill>
              <a:srgbClr val="C5DFE8"/>
            </a:solidFill>
            <a:prstDash val="solid"/>
          </a:ln>
        </p:spPr>
      </p:sp>
      <p:sp>
        <p:nvSpPr>
          <p:cNvPr id="9" name="Text 6"/>
          <p:cNvSpPr/>
          <p:nvPr/>
        </p:nvSpPr>
        <p:spPr>
          <a:xfrm>
            <a:off x="4818888" y="3895344"/>
            <a:ext cx="1188720" cy="457200"/>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Mid-Market Dominance: </a:t>
            </a:r>
            <a:endParaRPr lang="en-US" sz="1050" dirty="0"/>
          </a:p>
        </p:txBody>
      </p:sp>
      <p:sp>
        <p:nvSpPr>
          <p:cNvPr id="10" name="Text 7"/>
          <p:cNvSpPr/>
          <p:nvPr/>
        </p:nvSpPr>
        <p:spPr>
          <a:xfrm>
            <a:off x="5637424" y="3882365"/>
            <a:ext cx="3277976" cy="45720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250–750M revenue range accounts for the majority of firms across all analysis dimensions — most competitive zone.</a:t>
            </a:r>
            <a:endParaRPr lang="en-US" sz="1000" dirty="0"/>
          </a:p>
        </p:txBody>
      </p:sp>
      <p:sp>
        <p:nvSpPr>
          <p:cNvPr id="11" name="Shape 8"/>
          <p:cNvSpPr/>
          <p:nvPr/>
        </p:nvSpPr>
        <p:spPr>
          <a:xfrm>
            <a:off x="348060" y="4453128"/>
            <a:ext cx="4206240" cy="530352"/>
          </a:xfrm>
          <a:prstGeom prst="rect">
            <a:avLst/>
          </a:prstGeom>
          <a:solidFill>
            <a:srgbClr val="EBF4FA"/>
          </a:solidFill>
          <a:ln w="12700">
            <a:solidFill>
              <a:srgbClr val="C5DFE8"/>
            </a:solidFill>
            <a:prstDash val="solid"/>
          </a:ln>
        </p:spPr>
      </p:sp>
      <p:sp>
        <p:nvSpPr>
          <p:cNvPr id="12" name="Text 9"/>
          <p:cNvSpPr/>
          <p:nvPr/>
        </p:nvSpPr>
        <p:spPr>
          <a:xfrm>
            <a:off x="384048" y="4489704"/>
            <a:ext cx="1188720" cy="457200"/>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Medium Rating Plateau: </a:t>
            </a:r>
            <a:endParaRPr lang="en-US" sz="1050" dirty="0"/>
          </a:p>
        </p:txBody>
      </p:sp>
      <p:sp>
        <p:nvSpPr>
          <p:cNvPr id="13" name="Text 10"/>
          <p:cNvSpPr/>
          <p:nvPr/>
        </p:nvSpPr>
        <p:spPr>
          <a:xfrm>
            <a:off x="1262460" y="4489704"/>
            <a:ext cx="3271782" cy="45720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Across all revenue, customer, and profit tiers, Medium-rated companies dominate — high ratings remain scarce even among top performers.</a:t>
            </a:r>
            <a:endParaRPr lang="en-US" sz="1000" dirty="0"/>
          </a:p>
        </p:txBody>
      </p:sp>
      <p:sp>
        <p:nvSpPr>
          <p:cNvPr id="14" name="Shape 11"/>
          <p:cNvSpPr/>
          <p:nvPr/>
        </p:nvSpPr>
        <p:spPr>
          <a:xfrm>
            <a:off x="4782900" y="4453128"/>
            <a:ext cx="4206240" cy="530352"/>
          </a:xfrm>
          <a:prstGeom prst="rect">
            <a:avLst/>
          </a:prstGeom>
          <a:solidFill>
            <a:srgbClr val="EBF4FA"/>
          </a:solidFill>
          <a:ln w="12700">
            <a:solidFill>
              <a:srgbClr val="C5DFE8"/>
            </a:solidFill>
            <a:prstDash val="solid"/>
          </a:ln>
        </p:spPr>
      </p:sp>
      <p:sp>
        <p:nvSpPr>
          <p:cNvPr id="15" name="Text 12"/>
          <p:cNvSpPr/>
          <p:nvPr/>
        </p:nvSpPr>
        <p:spPr>
          <a:xfrm>
            <a:off x="4818888" y="4489704"/>
            <a:ext cx="1188720" cy="457200"/>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Weak Feature-Target Correlation: </a:t>
            </a:r>
            <a:endParaRPr lang="en-US" sz="1050" dirty="0"/>
          </a:p>
        </p:txBody>
      </p:sp>
      <p:sp>
        <p:nvSpPr>
          <p:cNvPr id="16" name="Text 13"/>
          <p:cNvSpPr/>
          <p:nvPr/>
        </p:nvSpPr>
        <p:spPr>
          <a:xfrm>
            <a:off x="5637424" y="4426286"/>
            <a:ext cx="3351716" cy="457200"/>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None of the available features exhibit a meaningful linear or non-linear relationship with annual_revenue_million.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Multivariate Analysis — Correlation Heatmap</a:t>
            </a:r>
            <a:endParaRPr lang="en-US" sz="2600" dirty="0"/>
          </a:p>
        </p:txBody>
      </p:sp>
      <p:pic>
        <p:nvPicPr>
          <p:cNvPr id="4" name="Image 0" descr="preencoded.png"/>
          <p:cNvPicPr>
            <a:picLocks noChangeAspect="1"/>
          </p:cNvPicPr>
          <p:nvPr/>
        </p:nvPicPr>
        <p:blipFill>
          <a:blip r:embed="rId3"/>
          <a:stretch>
            <a:fillRect/>
          </a:stretch>
        </p:blipFill>
        <p:spPr>
          <a:xfrm>
            <a:off x="914400" y="868680"/>
            <a:ext cx="7315200" cy="3657600"/>
          </a:xfrm>
          <a:prstGeom prst="rect">
            <a:avLst/>
          </a:prstGeom>
        </p:spPr>
      </p:pic>
      <p:sp>
        <p:nvSpPr>
          <p:cNvPr id="5" name="Shape 2"/>
          <p:cNvSpPr/>
          <p:nvPr/>
        </p:nvSpPr>
        <p:spPr>
          <a:xfrm>
            <a:off x="274320" y="4439265"/>
            <a:ext cx="8595360" cy="626511"/>
          </a:xfrm>
          <a:prstGeom prst="rect">
            <a:avLst/>
          </a:prstGeom>
          <a:solidFill>
            <a:srgbClr val="FFF3E0"/>
          </a:solidFill>
          <a:ln w="12700">
            <a:solidFill>
              <a:srgbClr val="F9A825"/>
            </a:solidFill>
            <a:prstDash val="solid"/>
          </a:ln>
        </p:spPr>
      </p:sp>
      <p:sp>
        <p:nvSpPr>
          <p:cNvPr id="6" name="Text 3"/>
          <p:cNvSpPr/>
          <p:nvPr/>
        </p:nvSpPr>
        <p:spPr>
          <a:xfrm>
            <a:off x="411480" y="4599432"/>
            <a:ext cx="8321040" cy="438912"/>
          </a:xfrm>
          <a:prstGeom prst="rect">
            <a:avLst/>
          </a:prstGeom>
          <a:noFill/>
          <a:ln/>
        </p:spPr>
        <p:txBody>
          <a:bodyPr wrap="square" rtlCol="0" anchor="ctr"/>
          <a:lstStyle/>
          <a:p>
            <a:pPr marL="0" indent="0">
              <a:buNone/>
            </a:pPr>
            <a:r>
              <a:rPr lang="en-US" sz="1050" b="1" dirty="0">
                <a:solidFill>
                  <a:srgbClr val="B45309"/>
                </a:solidFill>
                <a:latin typeface="Calibri" pitchFamily="34" charset="0"/>
                <a:ea typeface="Calibri" pitchFamily="34" charset="-122"/>
                <a:cs typeface="Calibri" pitchFamily="34" charset="-120"/>
              </a:rPr>
              <a:t>Critical Finding:  </a:t>
            </a:r>
            <a:r>
              <a:rPr lang="en-US" sz="1050" dirty="0">
                <a:solidFill>
                  <a:srgbClr val="2D3748"/>
                </a:solidFill>
                <a:latin typeface="Calibri" pitchFamily="34" charset="0"/>
                <a:ea typeface="Calibri" pitchFamily="34" charset="-122"/>
                <a:cs typeface="Calibri" pitchFamily="34" charset="-120"/>
              </a:rPr>
              <a:t>All pairwise correlations lie between −0.01 and +0.02 — virtually NO linear relationship between any feature and annual_revenue_million. Minimal multicollinearity, but also minimal predictive signal for supervised regression.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Machine Learning — Setup &amp; Methodology</a:t>
            </a:r>
            <a:endParaRPr lang="en-US" sz="2600" dirty="0"/>
          </a:p>
        </p:txBody>
      </p:sp>
      <p:sp>
        <p:nvSpPr>
          <p:cNvPr id="4" name="Shape 2"/>
          <p:cNvSpPr/>
          <p:nvPr/>
        </p:nvSpPr>
        <p:spPr>
          <a:xfrm>
            <a:off x="274320" y="914400"/>
            <a:ext cx="5394960" cy="713232"/>
          </a:xfrm>
          <a:prstGeom prst="rect">
            <a:avLst/>
          </a:prstGeom>
          <a:solidFill>
            <a:srgbClr val="FFFFFF"/>
          </a:solidFill>
          <a:ln/>
          <a:effectLst>
            <a:outerShdw blurRad="50800" dist="25400" dir="8100000" algn="bl" rotWithShape="0">
              <a:srgbClr val="000000">
                <a:alpha val="10000"/>
              </a:srgbClr>
            </a:outerShdw>
          </a:effectLst>
        </p:spPr>
      </p:sp>
      <p:sp>
        <p:nvSpPr>
          <p:cNvPr id="5" name="Shape 3"/>
          <p:cNvSpPr/>
          <p:nvPr/>
        </p:nvSpPr>
        <p:spPr>
          <a:xfrm>
            <a:off x="274320" y="914400"/>
            <a:ext cx="73152" cy="713232"/>
          </a:xfrm>
          <a:prstGeom prst="rect">
            <a:avLst/>
          </a:prstGeom>
          <a:solidFill>
            <a:srgbClr val="1C7293"/>
          </a:solidFill>
          <a:ln w="12700">
            <a:solidFill>
              <a:srgbClr val="1C7293"/>
            </a:solidFill>
            <a:prstDash val="solid"/>
          </a:ln>
        </p:spPr>
      </p:sp>
      <p:sp>
        <p:nvSpPr>
          <p:cNvPr id="6" name="Text 4"/>
          <p:cNvSpPr/>
          <p:nvPr/>
        </p:nvSpPr>
        <p:spPr>
          <a:xfrm>
            <a:off x="438912" y="960120"/>
            <a:ext cx="5120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1. Target Variable</a:t>
            </a:r>
            <a:endParaRPr lang="en-US" sz="1200" dirty="0"/>
          </a:p>
        </p:txBody>
      </p:sp>
      <p:sp>
        <p:nvSpPr>
          <p:cNvPr id="7" name="Text 5"/>
          <p:cNvSpPr/>
          <p:nvPr/>
        </p:nvSpPr>
        <p:spPr>
          <a:xfrm>
            <a:off x="438912" y="1234440"/>
            <a:ext cx="5120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annual_revenue_million selected as the dependent variable (y). All remaining columns form the feature matrix (X).</a:t>
            </a:r>
            <a:endParaRPr lang="en-US" sz="1000" dirty="0"/>
          </a:p>
        </p:txBody>
      </p:sp>
      <p:sp>
        <p:nvSpPr>
          <p:cNvPr id="8" name="Shape 6"/>
          <p:cNvSpPr/>
          <p:nvPr/>
        </p:nvSpPr>
        <p:spPr>
          <a:xfrm>
            <a:off x="274320" y="1719072"/>
            <a:ext cx="5394960" cy="713232"/>
          </a:xfrm>
          <a:prstGeom prst="rect">
            <a:avLst/>
          </a:prstGeom>
          <a:solidFill>
            <a:srgbClr val="FFFFFF"/>
          </a:solidFill>
          <a:ln/>
          <a:effectLst>
            <a:outerShdw blurRad="50800" dist="25400" dir="8100000" algn="bl" rotWithShape="0">
              <a:srgbClr val="000000">
                <a:alpha val="10000"/>
              </a:srgbClr>
            </a:outerShdw>
          </a:effectLst>
        </p:spPr>
      </p:sp>
      <p:sp>
        <p:nvSpPr>
          <p:cNvPr id="9" name="Shape 7"/>
          <p:cNvSpPr/>
          <p:nvPr/>
        </p:nvSpPr>
        <p:spPr>
          <a:xfrm>
            <a:off x="274320" y="1719072"/>
            <a:ext cx="73152" cy="713232"/>
          </a:xfrm>
          <a:prstGeom prst="rect">
            <a:avLst/>
          </a:prstGeom>
          <a:solidFill>
            <a:srgbClr val="1C7293"/>
          </a:solidFill>
          <a:ln w="12700">
            <a:solidFill>
              <a:srgbClr val="1C7293"/>
            </a:solidFill>
            <a:prstDash val="solid"/>
          </a:ln>
        </p:spPr>
      </p:sp>
      <p:sp>
        <p:nvSpPr>
          <p:cNvPr id="10" name="Text 8"/>
          <p:cNvSpPr/>
          <p:nvPr/>
        </p:nvSpPr>
        <p:spPr>
          <a:xfrm>
            <a:off x="438912" y="1764792"/>
            <a:ext cx="5120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2. Engineered Columns Dropped</a:t>
            </a:r>
            <a:endParaRPr lang="en-US" sz="1200" dirty="0"/>
          </a:p>
        </p:txBody>
      </p:sp>
      <p:sp>
        <p:nvSpPr>
          <p:cNvPr id="11" name="Text 9"/>
          <p:cNvSpPr/>
          <p:nvPr/>
        </p:nvSpPr>
        <p:spPr>
          <a:xfrm>
            <a:off x="438912" y="2039112"/>
            <a:ext cx="5120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rating_category, employee_size, revenue_category, profit_category, founded_period, customer_category excluded — these are derived from features already in X.</a:t>
            </a:r>
            <a:endParaRPr lang="en-US" sz="1000" dirty="0"/>
          </a:p>
        </p:txBody>
      </p:sp>
      <p:sp>
        <p:nvSpPr>
          <p:cNvPr id="12" name="Shape 10"/>
          <p:cNvSpPr/>
          <p:nvPr/>
        </p:nvSpPr>
        <p:spPr>
          <a:xfrm>
            <a:off x="274320" y="2523744"/>
            <a:ext cx="5394960" cy="713232"/>
          </a:xfrm>
          <a:prstGeom prst="rect">
            <a:avLst/>
          </a:prstGeom>
          <a:solidFill>
            <a:srgbClr val="FFFFFF"/>
          </a:solidFill>
          <a:ln/>
          <a:effectLst>
            <a:outerShdw blurRad="50800" dist="25400" dir="8100000" algn="bl" rotWithShape="0">
              <a:srgbClr val="000000">
                <a:alpha val="10000"/>
              </a:srgbClr>
            </a:outerShdw>
          </a:effectLst>
        </p:spPr>
      </p:sp>
      <p:sp>
        <p:nvSpPr>
          <p:cNvPr id="13" name="Shape 11"/>
          <p:cNvSpPr/>
          <p:nvPr/>
        </p:nvSpPr>
        <p:spPr>
          <a:xfrm>
            <a:off x="274320" y="2523744"/>
            <a:ext cx="73152" cy="713232"/>
          </a:xfrm>
          <a:prstGeom prst="rect">
            <a:avLst/>
          </a:prstGeom>
          <a:solidFill>
            <a:srgbClr val="1C7293"/>
          </a:solidFill>
          <a:ln w="12700">
            <a:solidFill>
              <a:srgbClr val="1C7293"/>
            </a:solidFill>
            <a:prstDash val="solid"/>
          </a:ln>
        </p:spPr>
      </p:sp>
      <p:sp>
        <p:nvSpPr>
          <p:cNvPr id="14" name="Text 12"/>
          <p:cNvSpPr/>
          <p:nvPr/>
        </p:nvSpPr>
        <p:spPr>
          <a:xfrm>
            <a:off x="438912" y="2569464"/>
            <a:ext cx="5120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3. Encoding</a:t>
            </a:r>
            <a:endParaRPr lang="en-US" sz="1200" dirty="0"/>
          </a:p>
        </p:txBody>
      </p:sp>
      <p:sp>
        <p:nvSpPr>
          <p:cNvPr id="15" name="Text 13"/>
          <p:cNvSpPr/>
          <p:nvPr/>
        </p:nvSpPr>
        <p:spPr>
          <a:xfrm>
            <a:off x="438912" y="2843784"/>
            <a:ext cx="5120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One-hot encoding (pd.get_dummies, drop_first=True) applied to industry and country columns to convert categoricals into numerical format.</a:t>
            </a:r>
            <a:endParaRPr lang="en-US" sz="1000" dirty="0"/>
          </a:p>
        </p:txBody>
      </p:sp>
      <p:sp>
        <p:nvSpPr>
          <p:cNvPr id="16" name="Shape 14"/>
          <p:cNvSpPr/>
          <p:nvPr/>
        </p:nvSpPr>
        <p:spPr>
          <a:xfrm>
            <a:off x="274320" y="3328416"/>
            <a:ext cx="5394960" cy="713232"/>
          </a:xfrm>
          <a:prstGeom prst="rect">
            <a:avLst/>
          </a:prstGeom>
          <a:solidFill>
            <a:srgbClr val="FFFFFF"/>
          </a:solidFill>
          <a:ln/>
          <a:effectLst>
            <a:outerShdw blurRad="50800" dist="25400" dir="8100000" algn="bl" rotWithShape="0">
              <a:srgbClr val="000000">
                <a:alpha val="10000"/>
              </a:srgbClr>
            </a:outerShdw>
          </a:effectLst>
        </p:spPr>
      </p:sp>
      <p:sp>
        <p:nvSpPr>
          <p:cNvPr id="17" name="Shape 15"/>
          <p:cNvSpPr/>
          <p:nvPr/>
        </p:nvSpPr>
        <p:spPr>
          <a:xfrm>
            <a:off x="274320" y="3328416"/>
            <a:ext cx="73152" cy="713232"/>
          </a:xfrm>
          <a:prstGeom prst="rect">
            <a:avLst/>
          </a:prstGeom>
          <a:solidFill>
            <a:srgbClr val="1C7293"/>
          </a:solidFill>
          <a:ln w="12700">
            <a:solidFill>
              <a:srgbClr val="1C7293"/>
            </a:solidFill>
            <a:prstDash val="solid"/>
          </a:ln>
        </p:spPr>
      </p:sp>
      <p:sp>
        <p:nvSpPr>
          <p:cNvPr id="18" name="Text 16"/>
          <p:cNvSpPr/>
          <p:nvPr/>
        </p:nvSpPr>
        <p:spPr>
          <a:xfrm>
            <a:off x="438912" y="3374136"/>
            <a:ext cx="5120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4. Train / Test Split</a:t>
            </a:r>
            <a:endParaRPr lang="en-US" sz="1200" dirty="0"/>
          </a:p>
        </p:txBody>
      </p:sp>
      <p:sp>
        <p:nvSpPr>
          <p:cNvPr id="19" name="Text 17"/>
          <p:cNvSpPr/>
          <p:nvPr/>
        </p:nvSpPr>
        <p:spPr>
          <a:xfrm>
            <a:off x="438912" y="3648456"/>
            <a:ext cx="5120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80% Training / 20% Test split using train_test_split with random_state=42 for reproducibility.</a:t>
            </a:r>
            <a:endParaRPr lang="en-US" sz="1000" dirty="0"/>
          </a:p>
        </p:txBody>
      </p:sp>
      <p:sp>
        <p:nvSpPr>
          <p:cNvPr id="20" name="Shape 18"/>
          <p:cNvSpPr/>
          <p:nvPr/>
        </p:nvSpPr>
        <p:spPr>
          <a:xfrm>
            <a:off x="274320" y="4133088"/>
            <a:ext cx="5394960" cy="713232"/>
          </a:xfrm>
          <a:prstGeom prst="rect">
            <a:avLst/>
          </a:prstGeom>
          <a:solidFill>
            <a:srgbClr val="FFFFFF"/>
          </a:solidFill>
          <a:ln/>
          <a:effectLst>
            <a:outerShdw blurRad="50800" dist="25400" dir="8100000" algn="bl" rotWithShape="0">
              <a:srgbClr val="000000">
                <a:alpha val="10000"/>
              </a:srgbClr>
            </a:outerShdw>
          </a:effectLst>
        </p:spPr>
      </p:sp>
      <p:sp>
        <p:nvSpPr>
          <p:cNvPr id="21" name="Shape 19"/>
          <p:cNvSpPr/>
          <p:nvPr/>
        </p:nvSpPr>
        <p:spPr>
          <a:xfrm>
            <a:off x="274320" y="4133088"/>
            <a:ext cx="73152" cy="713232"/>
          </a:xfrm>
          <a:prstGeom prst="rect">
            <a:avLst/>
          </a:prstGeom>
          <a:solidFill>
            <a:srgbClr val="1C7293"/>
          </a:solidFill>
          <a:ln w="12700">
            <a:solidFill>
              <a:srgbClr val="1C7293"/>
            </a:solidFill>
            <a:prstDash val="solid"/>
          </a:ln>
        </p:spPr>
      </p:sp>
      <p:sp>
        <p:nvSpPr>
          <p:cNvPr id="22" name="Text 20"/>
          <p:cNvSpPr/>
          <p:nvPr/>
        </p:nvSpPr>
        <p:spPr>
          <a:xfrm>
            <a:off x="438912" y="4178808"/>
            <a:ext cx="5120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5. Feature Scaling</a:t>
            </a:r>
            <a:endParaRPr lang="en-US" sz="1200" dirty="0"/>
          </a:p>
        </p:txBody>
      </p:sp>
      <p:sp>
        <p:nvSpPr>
          <p:cNvPr id="23" name="Text 21"/>
          <p:cNvSpPr/>
          <p:nvPr/>
        </p:nvSpPr>
        <p:spPr>
          <a:xfrm>
            <a:off x="438912" y="4453128"/>
            <a:ext cx="5120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StandardScaler applied — fit on train set, transform applied to both train and test sets to prevent data leakage.</a:t>
            </a:r>
            <a:endParaRPr lang="en-US" sz="1000" dirty="0"/>
          </a:p>
        </p:txBody>
      </p:sp>
      <p:sp>
        <p:nvSpPr>
          <p:cNvPr id="24" name="Text 22"/>
          <p:cNvSpPr/>
          <p:nvPr/>
        </p:nvSpPr>
        <p:spPr>
          <a:xfrm>
            <a:off x="5943600" y="914400"/>
            <a:ext cx="2926080" cy="32004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Models Evaluated</a:t>
            </a:r>
            <a:endParaRPr lang="en-US" sz="1400" dirty="0"/>
          </a:p>
        </p:txBody>
      </p:sp>
      <p:sp>
        <p:nvSpPr>
          <p:cNvPr id="25" name="Shape 23"/>
          <p:cNvSpPr/>
          <p:nvPr/>
        </p:nvSpPr>
        <p:spPr>
          <a:xfrm>
            <a:off x="5943600" y="1298448"/>
            <a:ext cx="2926080" cy="393192"/>
          </a:xfrm>
          <a:prstGeom prst="rect">
            <a:avLst/>
          </a:prstGeom>
          <a:solidFill>
            <a:srgbClr val="D4EEF7"/>
          </a:solidFill>
          <a:ln w="12700">
            <a:solidFill>
              <a:srgbClr val="C5DFE8"/>
            </a:solidFill>
            <a:prstDash val="solid"/>
          </a:ln>
        </p:spPr>
      </p:sp>
      <p:sp>
        <p:nvSpPr>
          <p:cNvPr id="26" name="Text 24"/>
          <p:cNvSpPr/>
          <p:nvPr/>
        </p:nvSpPr>
        <p:spPr>
          <a:xfrm>
            <a:off x="6080760" y="12984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Linear Regression</a:t>
            </a:r>
            <a:endParaRPr lang="en-US" sz="1150" dirty="0"/>
          </a:p>
        </p:txBody>
      </p:sp>
      <p:sp>
        <p:nvSpPr>
          <p:cNvPr id="27" name="Shape 25"/>
          <p:cNvSpPr/>
          <p:nvPr/>
        </p:nvSpPr>
        <p:spPr>
          <a:xfrm>
            <a:off x="5943600" y="1755648"/>
            <a:ext cx="2926080" cy="393192"/>
          </a:xfrm>
          <a:prstGeom prst="rect">
            <a:avLst/>
          </a:prstGeom>
          <a:solidFill>
            <a:srgbClr val="FFFFFF"/>
          </a:solidFill>
          <a:ln w="12700">
            <a:solidFill>
              <a:srgbClr val="C5DFE8"/>
            </a:solidFill>
            <a:prstDash val="solid"/>
          </a:ln>
        </p:spPr>
      </p:sp>
      <p:sp>
        <p:nvSpPr>
          <p:cNvPr id="28" name="Text 26"/>
          <p:cNvSpPr/>
          <p:nvPr/>
        </p:nvSpPr>
        <p:spPr>
          <a:xfrm>
            <a:off x="6080760" y="17556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Lasso Regression</a:t>
            </a:r>
            <a:endParaRPr lang="en-US" sz="1150" dirty="0"/>
          </a:p>
        </p:txBody>
      </p:sp>
      <p:sp>
        <p:nvSpPr>
          <p:cNvPr id="29" name="Shape 27"/>
          <p:cNvSpPr/>
          <p:nvPr/>
        </p:nvSpPr>
        <p:spPr>
          <a:xfrm>
            <a:off x="5943600" y="2212848"/>
            <a:ext cx="2926080" cy="393192"/>
          </a:xfrm>
          <a:prstGeom prst="rect">
            <a:avLst/>
          </a:prstGeom>
          <a:solidFill>
            <a:srgbClr val="D4EEF7"/>
          </a:solidFill>
          <a:ln w="12700">
            <a:solidFill>
              <a:srgbClr val="C5DFE8"/>
            </a:solidFill>
            <a:prstDash val="solid"/>
          </a:ln>
        </p:spPr>
      </p:sp>
      <p:sp>
        <p:nvSpPr>
          <p:cNvPr id="30" name="Text 28"/>
          <p:cNvSpPr/>
          <p:nvPr/>
        </p:nvSpPr>
        <p:spPr>
          <a:xfrm>
            <a:off x="6080760" y="22128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Ridge Regression</a:t>
            </a:r>
            <a:endParaRPr lang="en-US" sz="1150" dirty="0"/>
          </a:p>
        </p:txBody>
      </p:sp>
      <p:sp>
        <p:nvSpPr>
          <p:cNvPr id="31" name="Shape 29"/>
          <p:cNvSpPr/>
          <p:nvPr/>
        </p:nvSpPr>
        <p:spPr>
          <a:xfrm>
            <a:off x="5943600" y="2670048"/>
            <a:ext cx="2926080" cy="393192"/>
          </a:xfrm>
          <a:prstGeom prst="rect">
            <a:avLst/>
          </a:prstGeom>
          <a:solidFill>
            <a:srgbClr val="FFFFFF"/>
          </a:solidFill>
          <a:ln w="12700">
            <a:solidFill>
              <a:srgbClr val="C5DFE8"/>
            </a:solidFill>
            <a:prstDash val="solid"/>
          </a:ln>
        </p:spPr>
      </p:sp>
      <p:sp>
        <p:nvSpPr>
          <p:cNvPr id="32" name="Text 30"/>
          <p:cNvSpPr/>
          <p:nvPr/>
        </p:nvSpPr>
        <p:spPr>
          <a:xfrm>
            <a:off x="6080760" y="26700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Elastic Net</a:t>
            </a:r>
            <a:endParaRPr lang="en-US" sz="1150" dirty="0"/>
          </a:p>
        </p:txBody>
      </p:sp>
      <p:sp>
        <p:nvSpPr>
          <p:cNvPr id="33" name="Shape 31"/>
          <p:cNvSpPr/>
          <p:nvPr/>
        </p:nvSpPr>
        <p:spPr>
          <a:xfrm>
            <a:off x="5943600" y="3127248"/>
            <a:ext cx="2926080" cy="393192"/>
          </a:xfrm>
          <a:prstGeom prst="rect">
            <a:avLst/>
          </a:prstGeom>
          <a:solidFill>
            <a:srgbClr val="D4EEF7"/>
          </a:solidFill>
          <a:ln w="12700">
            <a:solidFill>
              <a:srgbClr val="C5DFE8"/>
            </a:solidFill>
            <a:prstDash val="solid"/>
          </a:ln>
        </p:spPr>
      </p:sp>
      <p:sp>
        <p:nvSpPr>
          <p:cNvPr id="34" name="Text 32"/>
          <p:cNvSpPr/>
          <p:nvPr/>
        </p:nvSpPr>
        <p:spPr>
          <a:xfrm>
            <a:off x="6080760" y="31272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Decision Tree Regressor</a:t>
            </a:r>
            <a:endParaRPr lang="en-US" sz="1150" dirty="0"/>
          </a:p>
        </p:txBody>
      </p:sp>
      <p:sp>
        <p:nvSpPr>
          <p:cNvPr id="35" name="Shape 33"/>
          <p:cNvSpPr/>
          <p:nvPr/>
        </p:nvSpPr>
        <p:spPr>
          <a:xfrm>
            <a:off x="5943600" y="3584448"/>
            <a:ext cx="2926080" cy="393192"/>
          </a:xfrm>
          <a:prstGeom prst="rect">
            <a:avLst/>
          </a:prstGeom>
          <a:solidFill>
            <a:srgbClr val="FFFFFF"/>
          </a:solidFill>
          <a:ln w="12700">
            <a:solidFill>
              <a:srgbClr val="C5DFE8"/>
            </a:solidFill>
            <a:prstDash val="solid"/>
          </a:ln>
        </p:spPr>
      </p:sp>
      <p:sp>
        <p:nvSpPr>
          <p:cNvPr id="36" name="Text 34"/>
          <p:cNvSpPr/>
          <p:nvPr/>
        </p:nvSpPr>
        <p:spPr>
          <a:xfrm>
            <a:off x="6080760" y="35844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Random Forest Regressor</a:t>
            </a:r>
            <a:endParaRPr lang="en-US" sz="1150" dirty="0"/>
          </a:p>
        </p:txBody>
      </p:sp>
      <p:sp>
        <p:nvSpPr>
          <p:cNvPr id="37" name="Shape 35"/>
          <p:cNvSpPr/>
          <p:nvPr/>
        </p:nvSpPr>
        <p:spPr>
          <a:xfrm>
            <a:off x="5943600" y="4041648"/>
            <a:ext cx="2926080" cy="393192"/>
          </a:xfrm>
          <a:prstGeom prst="rect">
            <a:avLst/>
          </a:prstGeom>
          <a:solidFill>
            <a:srgbClr val="D4EEF7"/>
          </a:solidFill>
          <a:ln w="12700">
            <a:solidFill>
              <a:srgbClr val="C5DFE8"/>
            </a:solidFill>
            <a:prstDash val="solid"/>
          </a:ln>
        </p:spPr>
      </p:sp>
      <p:sp>
        <p:nvSpPr>
          <p:cNvPr id="38" name="Text 36"/>
          <p:cNvSpPr/>
          <p:nvPr/>
        </p:nvSpPr>
        <p:spPr>
          <a:xfrm>
            <a:off x="6080760" y="40416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SVR (Support Vector Regression)</a:t>
            </a:r>
            <a:endParaRPr lang="en-US" sz="1150" dirty="0"/>
          </a:p>
        </p:txBody>
      </p:sp>
      <p:sp>
        <p:nvSpPr>
          <p:cNvPr id="39" name="Shape 37"/>
          <p:cNvSpPr/>
          <p:nvPr/>
        </p:nvSpPr>
        <p:spPr>
          <a:xfrm>
            <a:off x="5943600" y="4498848"/>
            <a:ext cx="2926080" cy="393192"/>
          </a:xfrm>
          <a:prstGeom prst="rect">
            <a:avLst/>
          </a:prstGeom>
          <a:solidFill>
            <a:srgbClr val="FFFFFF"/>
          </a:solidFill>
          <a:ln w="12700">
            <a:solidFill>
              <a:srgbClr val="C5DFE8"/>
            </a:solidFill>
            <a:prstDash val="solid"/>
          </a:ln>
        </p:spPr>
      </p:sp>
      <p:sp>
        <p:nvSpPr>
          <p:cNvPr id="40" name="Text 38"/>
          <p:cNvSpPr/>
          <p:nvPr/>
        </p:nvSpPr>
        <p:spPr>
          <a:xfrm>
            <a:off x="6080760" y="4498848"/>
            <a:ext cx="2743200" cy="393192"/>
          </a:xfrm>
          <a:prstGeom prst="rect">
            <a:avLst/>
          </a:prstGeom>
          <a:noFill/>
          <a:ln/>
        </p:spPr>
        <p:txBody>
          <a:bodyPr wrap="square" rtlCol="0" anchor="ctr"/>
          <a:lstStyle/>
          <a:p>
            <a:pPr marL="0" indent="0">
              <a:buNone/>
            </a:pPr>
            <a:r>
              <a:rPr lang="en-US" sz="1150" dirty="0">
                <a:solidFill>
                  <a:srgbClr val="2D3748"/>
                </a:solidFill>
                <a:latin typeface="Calibri" pitchFamily="34" charset="0"/>
                <a:ea typeface="Calibri" pitchFamily="34" charset="-122"/>
                <a:cs typeface="Calibri" pitchFamily="34" charset="-120"/>
              </a:rPr>
              <a:t>KNN Regressor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ML Model Performance — R² Score Comparison</a:t>
            </a:r>
            <a:endParaRPr lang="en-US" sz="2600" dirty="0"/>
          </a:p>
        </p:txBody>
      </p:sp>
      <p:pic>
        <p:nvPicPr>
          <p:cNvPr id="4" name="Image 0" descr="preencoded.png"/>
          <p:cNvPicPr>
            <a:picLocks noChangeAspect="1"/>
          </p:cNvPicPr>
          <p:nvPr/>
        </p:nvPicPr>
        <p:blipFill>
          <a:blip r:embed="rId3"/>
          <a:stretch>
            <a:fillRect/>
          </a:stretch>
        </p:blipFill>
        <p:spPr>
          <a:xfrm>
            <a:off x="182880" y="822960"/>
            <a:ext cx="8778240" cy="3063240"/>
          </a:xfrm>
          <a:prstGeom prst="rect">
            <a:avLst/>
          </a:prstGeom>
        </p:spPr>
      </p:pic>
      <p:sp>
        <p:nvSpPr>
          <p:cNvPr id="5" name="Shape 2"/>
          <p:cNvSpPr/>
          <p:nvPr/>
        </p:nvSpPr>
        <p:spPr>
          <a:xfrm>
            <a:off x="457200" y="4315968"/>
            <a:ext cx="2606040" cy="713232"/>
          </a:xfrm>
          <a:prstGeom prst="rect">
            <a:avLst/>
          </a:prstGeom>
          <a:solidFill>
            <a:srgbClr val="1A2744"/>
          </a:solidFill>
          <a:ln/>
          <a:effectLst>
            <a:outerShdw blurRad="76200" dist="25400" dir="8100000" algn="bl" rotWithShape="0">
              <a:srgbClr val="000000">
                <a:alpha val="20000"/>
              </a:srgbClr>
            </a:outerShdw>
          </a:effectLst>
        </p:spPr>
      </p:sp>
      <p:sp>
        <p:nvSpPr>
          <p:cNvPr id="6" name="Text 3"/>
          <p:cNvSpPr/>
          <p:nvPr/>
        </p:nvSpPr>
        <p:spPr>
          <a:xfrm>
            <a:off x="457200" y="4334256"/>
            <a:ext cx="2606040" cy="228600"/>
          </a:xfrm>
          <a:prstGeom prst="rect">
            <a:avLst/>
          </a:prstGeom>
          <a:noFill/>
          <a:ln/>
        </p:spPr>
        <p:txBody>
          <a:bodyPr wrap="square" rtlCol="0" anchor="ctr"/>
          <a:lstStyle/>
          <a:p>
            <a:pPr marL="0" indent="0" algn="ctr">
              <a:buNone/>
            </a:pPr>
            <a:r>
              <a:rPr lang="en-US" sz="1000" dirty="0">
                <a:solidFill>
                  <a:srgbClr val="A8C8E0"/>
                </a:solidFill>
                <a:latin typeface="Calibri" pitchFamily="34" charset="0"/>
                <a:ea typeface="Calibri" pitchFamily="34" charset="-122"/>
                <a:cs typeface="Calibri" pitchFamily="34" charset="-120"/>
              </a:rPr>
              <a:t>Best Test R²</a:t>
            </a:r>
            <a:endParaRPr lang="en-US" sz="1000" dirty="0"/>
          </a:p>
        </p:txBody>
      </p:sp>
      <p:sp>
        <p:nvSpPr>
          <p:cNvPr id="7" name="Text 4"/>
          <p:cNvSpPr/>
          <p:nvPr/>
        </p:nvSpPr>
        <p:spPr>
          <a:xfrm>
            <a:off x="457200" y="4553712"/>
            <a:ext cx="2606040" cy="274320"/>
          </a:xfrm>
          <a:prstGeom prst="rect">
            <a:avLst/>
          </a:prstGeom>
          <a:noFill/>
          <a:ln/>
        </p:spPr>
        <p:txBody>
          <a:bodyPr wrap="square" rtlCol="0" anchor="ctr"/>
          <a:lstStyle/>
          <a:p>
            <a:pPr marL="0" indent="0" algn="ctr">
              <a:buNone/>
            </a:pPr>
            <a:r>
              <a:rPr lang="en-US" sz="1600" b="1" dirty="0">
                <a:solidFill>
                  <a:srgbClr val="F59E0B"/>
                </a:solidFill>
                <a:latin typeface="Georgia" pitchFamily="34" charset="0"/>
                <a:ea typeface="Georgia" pitchFamily="34" charset="-122"/>
                <a:cs typeface="Georgia" pitchFamily="34" charset="-120"/>
              </a:rPr>
              <a:t>-0.0005</a:t>
            </a:r>
            <a:endParaRPr lang="en-US" sz="1600" dirty="0"/>
          </a:p>
        </p:txBody>
      </p:sp>
      <p:sp>
        <p:nvSpPr>
          <p:cNvPr id="8" name="Text 5"/>
          <p:cNvSpPr/>
          <p:nvPr/>
        </p:nvSpPr>
        <p:spPr>
          <a:xfrm>
            <a:off x="457200" y="4809744"/>
            <a:ext cx="2606040" cy="219456"/>
          </a:xfrm>
          <a:prstGeom prst="rect">
            <a:avLst/>
          </a:prstGeom>
          <a:noFill/>
          <a:ln/>
        </p:spPr>
        <p:txBody>
          <a:bodyPr wrap="square" rtlCol="0" anchor="ctr"/>
          <a:lstStyle/>
          <a:p>
            <a:pPr marL="0" indent="0" algn="ctr">
              <a:buNone/>
            </a:pPr>
            <a:r>
              <a:rPr lang="en-US" sz="950" i="1" dirty="0">
                <a:solidFill>
                  <a:srgbClr val="7BAEC8"/>
                </a:solidFill>
                <a:latin typeface="Calibri" pitchFamily="34" charset="0"/>
                <a:ea typeface="Calibri" pitchFamily="34" charset="-122"/>
                <a:cs typeface="Calibri" pitchFamily="34" charset="-120"/>
              </a:rPr>
              <a:t>Lasso &amp; Elastic Net</a:t>
            </a:r>
            <a:endParaRPr lang="en-US" sz="950" dirty="0"/>
          </a:p>
        </p:txBody>
      </p:sp>
      <p:sp>
        <p:nvSpPr>
          <p:cNvPr id="9" name="Shape 6"/>
          <p:cNvSpPr/>
          <p:nvPr/>
        </p:nvSpPr>
        <p:spPr>
          <a:xfrm>
            <a:off x="3337560" y="4315968"/>
            <a:ext cx="2606040" cy="749808"/>
          </a:xfrm>
          <a:prstGeom prst="rect">
            <a:avLst/>
          </a:prstGeom>
          <a:solidFill>
            <a:srgbClr val="1A2744"/>
          </a:solidFill>
          <a:ln/>
          <a:effectLst>
            <a:outerShdw blurRad="76200" dist="25400" dir="8100000" algn="bl" rotWithShape="0">
              <a:srgbClr val="000000">
                <a:alpha val="20000"/>
              </a:srgbClr>
            </a:outerShdw>
          </a:effectLst>
        </p:spPr>
      </p:sp>
      <p:sp>
        <p:nvSpPr>
          <p:cNvPr id="10" name="Text 7"/>
          <p:cNvSpPr/>
          <p:nvPr/>
        </p:nvSpPr>
        <p:spPr>
          <a:xfrm>
            <a:off x="3337560" y="4334256"/>
            <a:ext cx="2606040" cy="228600"/>
          </a:xfrm>
          <a:prstGeom prst="rect">
            <a:avLst/>
          </a:prstGeom>
          <a:noFill/>
          <a:ln/>
        </p:spPr>
        <p:txBody>
          <a:bodyPr wrap="square" rtlCol="0" anchor="ctr"/>
          <a:lstStyle/>
          <a:p>
            <a:pPr marL="0" indent="0" algn="ctr">
              <a:buNone/>
            </a:pPr>
            <a:r>
              <a:rPr lang="en-US" sz="1000" dirty="0">
                <a:solidFill>
                  <a:srgbClr val="A8C8E0"/>
                </a:solidFill>
                <a:latin typeface="Calibri" pitchFamily="34" charset="0"/>
                <a:ea typeface="Calibri" pitchFamily="34" charset="-122"/>
                <a:cs typeface="Calibri" pitchFamily="34" charset="-120"/>
              </a:rPr>
              <a:t>Worst Test R²</a:t>
            </a:r>
            <a:endParaRPr lang="en-US" sz="1000" dirty="0"/>
          </a:p>
        </p:txBody>
      </p:sp>
      <p:sp>
        <p:nvSpPr>
          <p:cNvPr id="11" name="Text 8"/>
          <p:cNvSpPr/>
          <p:nvPr/>
        </p:nvSpPr>
        <p:spPr>
          <a:xfrm>
            <a:off x="3337560" y="4553712"/>
            <a:ext cx="2606040" cy="274320"/>
          </a:xfrm>
          <a:prstGeom prst="rect">
            <a:avLst/>
          </a:prstGeom>
          <a:noFill/>
          <a:ln/>
        </p:spPr>
        <p:txBody>
          <a:bodyPr wrap="square" rtlCol="0" anchor="ctr"/>
          <a:lstStyle/>
          <a:p>
            <a:pPr marL="0" indent="0" algn="ctr">
              <a:buNone/>
            </a:pPr>
            <a:r>
              <a:rPr lang="en-US" sz="1600" b="1" dirty="0">
                <a:solidFill>
                  <a:srgbClr val="EF4444"/>
                </a:solidFill>
                <a:latin typeface="Georgia" pitchFamily="34" charset="0"/>
                <a:ea typeface="Georgia" pitchFamily="34" charset="-122"/>
                <a:cs typeface="Georgia" pitchFamily="34" charset="-120"/>
              </a:rPr>
              <a:t>-0.1783</a:t>
            </a:r>
            <a:endParaRPr lang="en-US" sz="1600" dirty="0"/>
          </a:p>
        </p:txBody>
      </p:sp>
      <p:sp>
        <p:nvSpPr>
          <p:cNvPr id="12" name="Text 9"/>
          <p:cNvSpPr/>
          <p:nvPr/>
        </p:nvSpPr>
        <p:spPr>
          <a:xfrm>
            <a:off x="3337560" y="4809744"/>
            <a:ext cx="2606040" cy="219456"/>
          </a:xfrm>
          <a:prstGeom prst="rect">
            <a:avLst/>
          </a:prstGeom>
          <a:noFill/>
          <a:ln/>
        </p:spPr>
        <p:txBody>
          <a:bodyPr wrap="square" rtlCol="0" anchor="ctr"/>
          <a:lstStyle/>
          <a:p>
            <a:pPr marL="0" indent="0" algn="ctr">
              <a:buNone/>
            </a:pPr>
            <a:r>
              <a:rPr lang="en-US" sz="950" i="1" dirty="0">
                <a:solidFill>
                  <a:srgbClr val="7BAEC8"/>
                </a:solidFill>
                <a:latin typeface="Calibri" pitchFamily="34" charset="0"/>
                <a:ea typeface="Calibri" pitchFamily="34" charset="-122"/>
                <a:cs typeface="Calibri" pitchFamily="34" charset="-120"/>
              </a:rPr>
              <a:t>KNN Regressor</a:t>
            </a:r>
            <a:endParaRPr lang="en-US" sz="950" dirty="0"/>
          </a:p>
        </p:txBody>
      </p:sp>
      <p:sp>
        <p:nvSpPr>
          <p:cNvPr id="13" name="Shape 10"/>
          <p:cNvSpPr/>
          <p:nvPr/>
        </p:nvSpPr>
        <p:spPr>
          <a:xfrm>
            <a:off x="6217920" y="4315968"/>
            <a:ext cx="2606040" cy="749808"/>
          </a:xfrm>
          <a:prstGeom prst="rect">
            <a:avLst/>
          </a:prstGeom>
          <a:solidFill>
            <a:srgbClr val="1A2744"/>
          </a:solidFill>
          <a:ln/>
          <a:effectLst>
            <a:outerShdw blurRad="76200" dist="25400" dir="8100000" algn="bl" rotWithShape="0">
              <a:srgbClr val="000000">
                <a:alpha val="20000"/>
              </a:srgbClr>
            </a:outerShdw>
          </a:effectLst>
        </p:spPr>
      </p:sp>
      <p:sp>
        <p:nvSpPr>
          <p:cNvPr id="14" name="Text 11"/>
          <p:cNvSpPr/>
          <p:nvPr/>
        </p:nvSpPr>
        <p:spPr>
          <a:xfrm>
            <a:off x="6217920" y="4334256"/>
            <a:ext cx="2606040" cy="228600"/>
          </a:xfrm>
          <a:prstGeom prst="rect">
            <a:avLst/>
          </a:prstGeom>
          <a:noFill/>
          <a:ln/>
        </p:spPr>
        <p:txBody>
          <a:bodyPr wrap="square" rtlCol="0" anchor="ctr"/>
          <a:lstStyle/>
          <a:p>
            <a:pPr marL="0" indent="0" algn="ctr">
              <a:buNone/>
            </a:pPr>
            <a:r>
              <a:rPr lang="en-US" sz="1000" dirty="0">
                <a:solidFill>
                  <a:srgbClr val="A8C8E0"/>
                </a:solidFill>
                <a:latin typeface="Calibri" pitchFamily="34" charset="0"/>
                <a:ea typeface="Calibri" pitchFamily="34" charset="-122"/>
                <a:cs typeface="Calibri" pitchFamily="34" charset="-120"/>
              </a:rPr>
              <a:t>Train ≫ Test</a:t>
            </a:r>
            <a:endParaRPr lang="en-US" sz="1000" dirty="0"/>
          </a:p>
        </p:txBody>
      </p:sp>
      <p:sp>
        <p:nvSpPr>
          <p:cNvPr id="15" name="Text 12"/>
          <p:cNvSpPr/>
          <p:nvPr/>
        </p:nvSpPr>
        <p:spPr>
          <a:xfrm>
            <a:off x="6217920" y="4553712"/>
            <a:ext cx="2606040" cy="274320"/>
          </a:xfrm>
          <a:prstGeom prst="rect">
            <a:avLst/>
          </a:prstGeom>
          <a:noFill/>
          <a:ln/>
        </p:spPr>
        <p:txBody>
          <a:bodyPr wrap="square" rtlCol="0" anchor="ctr"/>
          <a:lstStyle/>
          <a:p>
            <a:pPr marL="0" indent="0" algn="ctr">
              <a:buNone/>
            </a:pPr>
            <a:r>
              <a:rPr lang="en-US" sz="1600" b="1" dirty="0">
                <a:solidFill>
                  <a:srgbClr val="8B5CF6"/>
                </a:solidFill>
                <a:latin typeface="Georgia" pitchFamily="34" charset="0"/>
                <a:ea typeface="Georgia" pitchFamily="34" charset="-122"/>
                <a:cs typeface="Georgia" pitchFamily="34" charset="-120"/>
              </a:rPr>
              <a:t>0.857 vs -0.035</a:t>
            </a:r>
            <a:endParaRPr lang="en-US" sz="1600" dirty="0"/>
          </a:p>
        </p:txBody>
      </p:sp>
      <p:sp>
        <p:nvSpPr>
          <p:cNvPr id="16" name="Text 13"/>
          <p:cNvSpPr/>
          <p:nvPr/>
        </p:nvSpPr>
        <p:spPr>
          <a:xfrm>
            <a:off x="6217920" y="4809744"/>
            <a:ext cx="2606040" cy="219456"/>
          </a:xfrm>
          <a:prstGeom prst="rect">
            <a:avLst/>
          </a:prstGeom>
          <a:noFill/>
          <a:ln/>
        </p:spPr>
        <p:txBody>
          <a:bodyPr wrap="square" rtlCol="0" anchor="ctr"/>
          <a:lstStyle/>
          <a:p>
            <a:pPr marL="0" indent="0" algn="ctr">
              <a:buNone/>
            </a:pPr>
            <a:r>
              <a:rPr lang="en-US" sz="950" i="1" dirty="0">
                <a:solidFill>
                  <a:srgbClr val="7BAEC8"/>
                </a:solidFill>
                <a:latin typeface="Calibri" pitchFamily="34" charset="0"/>
                <a:ea typeface="Calibri" pitchFamily="34" charset="-122"/>
                <a:cs typeface="Calibri" pitchFamily="34" charset="-120"/>
              </a:rPr>
              <a:t>Random Forest (Overfit)</a:t>
            </a:r>
            <a:endParaRPr lang="en-US" sz="950" dirty="0"/>
          </a:p>
        </p:txBody>
      </p:sp>
      <p:sp>
        <p:nvSpPr>
          <p:cNvPr id="17" name="Text 14"/>
          <p:cNvSpPr/>
          <p:nvPr/>
        </p:nvSpPr>
        <p:spPr>
          <a:xfrm>
            <a:off x="457200" y="3922776"/>
            <a:ext cx="8503920" cy="365760"/>
          </a:xfrm>
          <a:prstGeom prst="rect">
            <a:avLst/>
          </a:prstGeom>
          <a:noFill/>
          <a:ln/>
        </p:spPr>
        <p:txBody>
          <a:bodyPr wrap="square"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All models produced negative Test R² scores — a predictor worse than a simple mean baseline.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w="12700">
            <a:solidFill>
              <a:srgbClr val="1A2744"/>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Why No Model Fit the Dataset — Root Cause Analysis</a:t>
            </a:r>
            <a:endParaRPr lang="en-US" sz="2600" dirty="0"/>
          </a:p>
        </p:txBody>
      </p:sp>
      <p:sp>
        <p:nvSpPr>
          <p:cNvPr id="4" name="Shape 2"/>
          <p:cNvSpPr/>
          <p:nvPr/>
        </p:nvSpPr>
        <p:spPr>
          <a:xfrm>
            <a:off x="274320" y="9144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274320" y="914400"/>
            <a:ext cx="594360" cy="1234440"/>
          </a:xfrm>
          <a:prstGeom prst="rect">
            <a:avLst/>
          </a:prstGeom>
          <a:solidFill>
            <a:srgbClr val="065A82"/>
          </a:solidFill>
          <a:ln w="12700">
            <a:solidFill>
              <a:srgbClr val="065A82"/>
            </a:solidFill>
            <a:prstDash val="solid"/>
          </a:ln>
        </p:spPr>
      </p:sp>
      <p:sp>
        <p:nvSpPr>
          <p:cNvPr id="6" name="Text 4"/>
          <p:cNvSpPr/>
          <p:nvPr/>
        </p:nvSpPr>
        <p:spPr>
          <a:xfrm>
            <a:off x="274320" y="12344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a:t>
            </a:r>
            <a:endParaRPr lang="en-US" sz="2200" dirty="0"/>
          </a:p>
        </p:txBody>
      </p:sp>
      <p:sp>
        <p:nvSpPr>
          <p:cNvPr id="7" name="Text 5"/>
          <p:cNvSpPr/>
          <p:nvPr/>
        </p:nvSpPr>
        <p:spPr>
          <a:xfrm>
            <a:off x="960120" y="9692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Near-Zero Feature Correlations</a:t>
            </a:r>
            <a:endParaRPr lang="en-US" sz="1150" dirty="0"/>
          </a:p>
        </p:txBody>
      </p:sp>
      <p:sp>
        <p:nvSpPr>
          <p:cNvPr id="8" name="Text 6"/>
          <p:cNvSpPr/>
          <p:nvPr/>
        </p:nvSpPr>
        <p:spPr>
          <a:xfrm>
            <a:off x="960120" y="12618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The correlation heatmap revealed that all pairwise correlations lie between −0.01 and +0.02. No feature shows a meaningful linear or non-linear association with annual_revenue_million — the target variable cannot be explained by the available predictors.</a:t>
            </a:r>
            <a:endParaRPr lang="en-US" sz="950" dirty="0"/>
          </a:p>
        </p:txBody>
      </p:sp>
      <p:sp>
        <p:nvSpPr>
          <p:cNvPr id="9" name="Shape 7"/>
          <p:cNvSpPr/>
          <p:nvPr/>
        </p:nvSpPr>
        <p:spPr>
          <a:xfrm>
            <a:off x="4709160" y="9144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10" name="Shape 8"/>
          <p:cNvSpPr/>
          <p:nvPr/>
        </p:nvSpPr>
        <p:spPr>
          <a:xfrm>
            <a:off x="4709160" y="914400"/>
            <a:ext cx="594360" cy="1234440"/>
          </a:xfrm>
          <a:prstGeom prst="rect">
            <a:avLst/>
          </a:prstGeom>
          <a:solidFill>
            <a:srgbClr val="065A82"/>
          </a:solidFill>
          <a:ln w="12700">
            <a:solidFill>
              <a:srgbClr val="065A82"/>
            </a:solidFill>
            <a:prstDash val="solid"/>
          </a:ln>
        </p:spPr>
      </p:sp>
      <p:sp>
        <p:nvSpPr>
          <p:cNvPr id="11" name="Text 9"/>
          <p:cNvSpPr/>
          <p:nvPr/>
        </p:nvSpPr>
        <p:spPr>
          <a:xfrm>
            <a:off x="4709160" y="12344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12" name="Text 10"/>
          <p:cNvSpPr/>
          <p:nvPr/>
        </p:nvSpPr>
        <p:spPr>
          <a:xfrm>
            <a:off x="5394960" y="9692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Uniform Dataset Structure</a:t>
            </a:r>
            <a:endParaRPr lang="en-US" sz="1150" dirty="0"/>
          </a:p>
        </p:txBody>
      </p:sp>
      <p:sp>
        <p:nvSpPr>
          <p:cNvPr id="13" name="Text 11"/>
          <p:cNvSpPr/>
          <p:nvPr/>
        </p:nvSpPr>
        <p:spPr>
          <a:xfrm>
            <a:off x="5394960" y="12618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The dataset was designed with perfectly balanced distributions across industries (3,000 each), countries (3,750 each), and all numerical columns. This structural uniformity means there are no patterns, clusters, or gradients for any model to learn.</a:t>
            </a:r>
            <a:endParaRPr lang="en-US" sz="950" dirty="0"/>
          </a:p>
        </p:txBody>
      </p:sp>
      <p:sp>
        <p:nvSpPr>
          <p:cNvPr id="14" name="Shape 12"/>
          <p:cNvSpPr/>
          <p:nvPr/>
        </p:nvSpPr>
        <p:spPr>
          <a:xfrm>
            <a:off x="274320" y="22860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15" name="Shape 13"/>
          <p:cNvSpPr/>
          <p:nvPr/>
        </p:nvSpPr>
        <p:spPr>
          <a:xfrm>
            <a:off x="274320" y="2286000"/>
            <a:ext cx="594360" cy="1234440"/>
          </a:xfrm>
          <a:prstGeom prst="rect">
            <a:avLst/>
          </a:prstGeom>
          <a:solidFill>
            <a:srgbClr val="065A82"/>
          </a:solidFill>
          <a:ln w="12700">
            <a:solidFill>
              <a:srgbClr val="065A82"/>
            </a:solidFill>
            <a:prstDash val="solid"/>
          </a:ln>
        </p:spPr>
      </p:sp>
      <p:sp>
        <p:nvSpPr>
          <p:cNvPr id="16" name="Text 14"/>
          <p:cNvSpPr/>
          <p:nvPr/>
        </p:nvSpPr>
        <p:spPr>
          <a:xfrm>
            <a:off x="274320" y="26060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17" name="Text 15"/>
          <p:cNvSpPr/>
          <p:nvPr/>
        </p:nvSpPr>
        <p:spPr>
          <a:xfrm>
            <a:off x="960120" y="23408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Overfitting in Tree-Based Models</a:t>
            </a:r>
            <a:endParaRPr lang="en-US" sz="1150" dirty="0"/>
          </a:p>
        </p:txBody>
      </p:sp>
      <p:sp>
        <p:nvSpPr>
          <p:cNvPr id="18" name="Text 16"/>
          <p:cNvSpPr/>
          <p:nvPr/>
        </p:nvSpPr>
        <p:spPr>
          <a:xfrm>
            <a:off x="960120" y="26334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Random Forest achieved a Train R² of 0.857 but collapsed to a Test R² of −0.035, confirming severe overfitting. The model memorized noise rather than generalising any signal. Decision Tree and KNN showed similar train-test divergence.</a:t>
            </a:r>
            <a:endParaRPr lang="en-US" sz="950" dirty="0"/>
          </a:p>
        </p:txBody>
      </p:sp>
      <p:sp>
        <p:nvSpPr>
          <p:cNvPr id="19" name="Shape 17"/>
          <p:cNvSpPr/>
          <p:nvPr/>
        </p:nvSpPr>
        <p:spPr>
          <a:xfrm>
            <a:off x="4709160" y="22860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20" name="Shape 18"/>
          <p:cNvSpPr/>
          <p:nvPr/>
        </p:nvSpPr>
        <p:spPr>
          <a:xfrm>
            <a:off x="4709160" y="2286000"/>
            <a:ext cx="594360" cy="1234440"/>
          </a:xfrm>
          <a:prstGeom prst="rect">
            <a:avLst/>
          </a:prstGeom>
          <a:solidFill>
            <a:srgbClr val="065A82"/>
          </a:solidFill>
          <a:ln w="12700">
            <a:solidFill>
              <a:srgbClr val="065A82"/>
            </a:solidFill>
            <a:prstDash val="solid"/>
          </a:ln>
        </p:spPr>
      </p:sp>
      <p:sp>
        <p:nvSpPr>
          <p:cNvPr id="21" name="Text 19"/>
          <p:cNvSpPr/>
          <p:nvPr/>
        </p:nvSpPr>
        <p:spPr>
          <a:xfrm>
            <a:off x="4709160" y="26060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22" name="Text 20"/>
          <p:cNvSpPr/>
          <p:nvPr/>
        </p:nvSpPr>
        <p:spPr>
          <a:xfrm>
            <a:off x="5394960" y="23408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Revenue Determined by Non-Available Factors</a:t>
            </a:r>
            <a:endParaRPr lang="en-US" sz="1150" dirty="0"/>
          </a:p>
        </p:txBody>
      </p:sp>
      <p:sp>
        <p:nvSpPr>
          <p:cNvPr id="23" name="Text 21"/>
          <p:cNvSpPr/>
          <p:nvPr/>
        </p:nvSpPr>
        <p:spPr>
          <a:xfrm>
            <a:off x="5394960" y="26334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EDA consistently showed that employee count, customer count, profit margin, market rating, and founded year do NOT significantly influence annual revenue within this dataset. Revenue appears to be independently distributed — likely controlled by the data generation process rather than real-world business dynamics.</a:t>
            </a:r>
            <a:endParaRPr lang="en-US" sz="950" dirty="0"/>
          </a:p>
        </p:txBody>
      </p:sp>
      <p:sp>
        <p:nvSpPr>
          <p:cNvPr id="24" name="Shape 22"/>
          <p:cNvSpPr/>
          <p:nvPr/>
        </p:nvSpPr>
        <p:spPr>
          <a:xfrm>
            <a:off x="274320" y="36576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25" name="Shape 23"/>
          <p:cNvSpPr/>
          <p:nvPr/>
        </p:nvSpPr>
        <p:spPr>
          <a:xfrm>
            <a:off x="274320" y="3657600"/>
            <a:ext cx="594360" cy="1234440"/>
          </a:xfrm>
          <a:prstGeom prst="rect">
            <a:avLst/>
          </a:prstGeom>
          <a:solidFill>
            <a:srgbClr val="065A82"/>
          </a:solidFill>
          <a:ln w="12700">
            <a:solidFill>
              <a:srgbClr val="065A82"/>
            </a:solidFill>
            <a:prstDash val="solid"/>
          </a:ln>
        </p:spPr>
      </p:sp>
      <p:sp>
        <p:nvSpPr>
          <p:cNvPr id="26" name="Text 24"/>
          <p:cNvSpPr/>
          <p:nvPr/>
        </p:nvSpPr>
        <p:spPr>
          <a:xfrm>
            <a:off x="274320" y="39776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27" name="Text 25"/>
          <p:cNvSpPr/>
          <p:nvPr/>
        </p:nvSpPr>
        <p:spPr>
          <a:xfrm>
            <a:off x="960120" y="37124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No Separability Across Categorical Features</a:t>
            </a:r>
            <a:endParaRPr lang="en-US" sz="1150" dirty="0"/>
          </a:p>
        </p:txBody>
      </p:sp>
      <p:sp>
        <p:nvSpPr>
          <p:cNvPr id="28" name="Text 26"/>
          <p:cNvSpPr/>
          <p:nvPr/>
        </p:nvSpPr>
        <p:spPr>
          <a:xfrm>
            <a:off x="960120" y="40050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Industry type and country of operation showed no differentiating power over revenue. After one-hot encoding, these features added no predictive signal, as revenue distributions within each industry and country are virtually identical.</a:t>
            </a:r>
            <a:endParaRPr lang="en-US" sz="950" dirty="0"/>
          </a:p>
        </p:txBody>
      </p:sp>
      <p:sp>
        <p:nvSpPr>
          <p:cNvPr id="29" name="Shape 27"/>
          <p:cNvSpPr/>
          <p:nvPr/>
        </p:nvSpPr>
        <p:spPr>
          <a:xfrm>
            <a:off x="4709160" y="3657600"/>
            <a:ext cx="4206240" cy="1234440"/>
          </a:xfrm>
          <a:prstGeom prst="rect">
            <a:avLst/>
          </a:prstGeom>
          <a:solidFill>
            <a:srgbClr val="FFFFFF"/>
          </a:solidFill>
          <a:ln/>
          <a:effectLst>
            <a:outerShdw blurRad="63500" dist="25400" dir="8100000" algn="bl" rotWithShape="0">
              <a:srgbClr val="000000">
                <a:alpha val="10000"/>
              </a:srgbClr>
            </a:outerShdw>
          </a:effectLst>
        </p:spPr>
      </p:sp>
      <p:sp>
        <p:nvSpPr>
          <p:cNvPr id="30" name="Shape 28"/>
          <p:cNvSpPr/>
          <p:nvPr/>
        </p:nvSpPr>
        <p:spPr>
          <a:xfrm>
            <a:off x="4709160" y="3657600"/>
            <a:ext cx="594360" cy="1234440"/>
          </a:xfrm>
          <a:prstGeom prst="rect">
            <a:avLst/>
          </a:prstGeom>
          <a:solidFill>
            <a:srgbClr val="065A82"/>
          </a:solidFill>
          <a:ln w="12700">
            <a:solidFill>
              <a:srgbClr val="065A82"/>
            </a:solidFill>
            <a:prstDash val="solid"/>
          </a:ln>
        </p:spPr>
      </p:sp>
      <p:sp>
        <p:nvSpPr>
          <p:cNvPr id="31" name="Text 29"/>
          <p:cNvSpPr/>
          <p:nvPr/>
        </p:nvSpPr>
        <p:spPr>
          <a:xfrm>
            <a:off x="4709160" y="3977640"/>
            <a:ext cx="594360" cy="5943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32" name="Text 30"/>
          <p:cNvSpPr/>
          <p:nvPr/>
        </p:nvSpPr>
        <p:spPr>
          <a:xfrm>
            <a:off x="5394960" y="3712464"/>
            <a:ext cx="3429000" cy="274320"/>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Target Variable Behaves as Random Noise</a:t>
            </a:r>
            <a:endParaRPr lang="en-US" sz="1150" dirty="0"/>
          </a:p>
        </p:txBody>
      </p:sp>
      <p:sp>
        <p:nvSpPr>
          <p:cNvPr id="33" name="Text 31"/>
          <p:cNvSpPr/>
          <p:nvPr/>
        </p:nvSpPr>
        <p:spPr>
          <a:xfrm>
            <a:off x="5394960" y="4005072"/>
            <a:ext cx="3429000" cy="84124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The flat distribution of annual_revenue_million (Mean ≈ 550M, Std Dev ≈ 288M, uniform KDE) and near-zero correlations with all features suggest the target behaves as a uniformly distributed random variable — regression models cannot outperform a constant mean predictor on such data.</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365760" y="274320"/>
            <a:ext cx="841248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Conclusion</a:t>
            </a:r>
            <a:endParaRPr lang="en-US" sz="3400" dirty="0"/>
          </a:p>
        </p:txBody>
      </p:sp>
      <p:sp>
        <p:nvSpPr>
          <p:cNvPr id="4" name="Shape 2"/>
          <p:cNvSpPr/>
          <p:nvPr/>
        </p:nvSpPr>
        <p:spPr>
          <a:xfrm>
            <a:off x="320040" y="1051560"/>
            <a:ext cx="8458200" cy="566928"/>
          </a:xfrm>
          <a:prstGeom prst="rect">
            <a:avLst/>
          </a:prstGeom>
          <a:solidFill>
            <a:srgbClr val="1E3A5F"/>
          </a:solidFill>
          <a:ln w="12700">
            <a:solidFill>
              <a:srgbClr val="2C5480"/>
            </a:solidFill>
            <a:prstDash val="solid"/>
          </a:ln>
        </p:spPr>
      </p:sp>
      <p:sp>
        <p:nvSpPr>
          <p:cNvPr id="5" name="Shape 3"/>
          <p:cNvSpPr/>
          <p:nvPr/>
        </p:nvSpPr>
        <p:spPr>
          <a:xfrm>
            <a:off x="320040" y="1051560"/>
            <a:ext cx="64008" cy="566928"/>
          </a:xfrm>
          <a:prstGeom prst="rect">
            <a:avLst/>
          </a:prstGeom>
          <a:solidFill>
            <a:srgbClr val="1C7293"/>
          </a:solidFill>
          <a:ln w="12700">
            <a:solidFill>
              <a:srgbClr val="1C7293"/>
            </a:solidFill>
            <a:prstDash val="solid"/>
          </a:ln>
        </p:spPr>
      </p:sp>
      <p:sp>
        <p:nvSpPr>
          <p:cNvPr id="6" name="Text 4"/>
          <p:cNvSpPr/>
          <p:nvPr/>
        </p:nvSpPr>
        <p:spPr>
          <a:xfrm>
            <a:off x="457200" y="1088136"/>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EDA Coverage</a:t>
            </a:r>
            <a:endParaRPr lang="en-US" sz="1100" dirty="0"/>
          </a:p>
        </p:txBody>
      </p:sp>
      <p:sp>
        <p:nvSpPr>
          <p:cNvPr id="7" name="Text 5"/>
          <p:cNvSpPr/>
          <p:nvPr/>
        </p:nvSpPr>
        <p:spPr>
          <a:xfrm>
            <a:off x="2212848" y="1088136"/>
            <a:ext cx="6446520" cy="475488"/>
          </a:xfrm>
          <a:prstGeom prst="rect">
            <a:avLst/>
          </a:prstGeom>
          <a:noFill/>
          <a:ln/>
        </p:spPr>
        <p:txBody>
          <a:bodyPr wrap="square" rtlCol="0" anchor="ctr"/>
          <a:lstStyle/>
          <a:p>
            <a:pPr marL="0" indent="0">
              <a:buNone/>
            </a:pPr>
            <a:r>
              <a:rPr lang="en-US" sz="1050" dirty="0">
                <a:solidFill>
                  <a:srgbClr val="B0CCE0"/>
                </a:solidFill>
                <a:latin typeface="Calibri" pitchFamily="34" charset="0"/>
                <a:ea typeface="Calibri" pitchFamily="34" charset="-122"/>
                <a:cs typeface="Calibri" pitchFamily="34" charset="-120"/>
              </a:rPr>
              <a:t>Conducted comprehensive Univariate, Bivariate, and Multivariate analysis across 15,000 records and 12 columns. Five new engineered features derived for deeper categorical insight.</a:t>
            </a:r>
            <a:endParaRPr lang="en-US" sz="1050" dirty="0"/>
          </a:p>
        </p:txBody>
      </p:sp>
      <p:sp>
        <p:nvSpPr>
          <p:cNvPr id="8" name="Shape 6"/>
          <p:cNvSpPr/>
          <p:nvPr/>
        </p:nvSpPr>
        <p:spPr>
          <a:xfrm>
            <a:off x="320040" y="1709928"/>
            <a:ext cx="8458200" cy="566928"/>
          </a:xfrm>
          <a:prstGeom prst="rect">
            <a:avLst/>
          </a:prstGeom>
          <a:solidFill>
            <a:srgbClr val="1E3A5F"/>
          </a:solidFill>
          <a:ln w="12700">
            <a:solidFill>
              <a:srgbClr val="2C5480"/>
            </a:solidFill>
            <a:prstDash val="solid"/>
          </a:ln>
        </p:spPr>
      </p:sp>
      <p:sp>
        <p:nvSpPr>
          <p:cNvPr id="9" name="Shape 7"/>
          <p:cNvSpPr/>
          <p:nvPr/>
        </p:nvSpPr>
        <p:spPr>
          <a:xfrm>
            <a:off x="320040" y="1709928"/>
            <a:ext cx="64008" cy="566928"/>
          </a:xfrm>
          <a:prstGeom prst="rect">
            <a:avLst/>
          </a:prstGeom>
          <a:solidFill>
            <a:srgbClr val="1C7293"/>
          </a:solidFill>
          <a:ln w="12700">
            <a:solidFill>
              <a:srgbClr val="1C7293"/>
            </a:solidFill>
            <a:prstDash val="solid"/>
          </a:ln>
        </p:spPr>
      </p:sp>
      <p:sp>
        <p:nvSpPr>
          <p:cNvPr id="10" name="Text 8"/>
          <p:cNvSpPr/>
          <p:nvPr/>
        </p:nvSpPr>
        <p:spPr>
          <a:xfrm>
            <a:off x="457200" y="1746504"/>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Dataset Characteristics</a:t>
            </a:r>
            <a:endParaRPr lang="en-US" sz="1100" dirty="0"/>
          </a:p>
        </p:txBody>
      </p:sp>
      <p:sp>
        <p:nvSpPr>
          <p:cNvPr id="11" name="Text 9"/>
          <p:cNvSpPr/>
          <p:nvPr/>
        </p:nvSpPr>
        <p:spPr>
          <a:xfrm>
            <a:off x="2212848" y="1746504"/>
            <a:ext cx="6446520" cy="475488"/>
          </a:xfrm>
          <a:prstGeom prst="rect">
            <a:avLst/>
          </a:prstGeom>
          <a:noFill/>
          <a:ln/>
        </p:spPr>
        <p:txBody>
          <a:bodyPr wrap="square" rtlCol="0" anchor="ctr"/>
          <a:lstStyle/>
          <a:p>
            <a:pPr marL="0" indent="0">
              <a:buNone/>
            </a:pPr>
            <a:r>
              <a:rPr lang="en-US" sz="1050" dirty="0">
                <a:solidFill>
                  <a:srgbClr val="B0CCE0"/>
                </a:solidFill>
                <a:latin typeface="Calibri" pitchFamily="34" charset="0"/>
                <a:ea typeface="Calibri" pitchFamily="34" charset="-122"/>
                <a:cs typeface="Calibri" pitchFamily="34" charset="-120"/>
              </a:rPr>
              <a:t>The dataset is structurally uniform — all industries, countries, and numerical variables exhibit near-identical, balanced distributions with no dominant patterns or clusters.</a:t>
            </a:r>
            <a:endParaRPr lang="en-US" sz="1050" dirty="0"/>
          </a:p>
        </p:txBody>
      </p:sp>
      <p:sp>
        <p:nvSpPr>
          <p:cNvPr id="12" name="Shape 10"/>
          <p:cNvSpPr/>
          <p:nvPr/>
        </p:nvSpPr>
        <p:spPr>
          <a:xfrm>
            <a:off x="320040" y="2368296"/>
            <a:ext cx="8458200" cy="566928"/>
          </a:xfrm>
          <a:prstGeom prst="rect">
            <a:avLst/>
          </a:prstGeom>
          <a:solidFill>
            <a:srgbClr val="1E3A5F"/>
          </a:solidFill>
          <a:ln w="12700">
            <a:solidFill>
              <a:srgbClr val="2C5480"/>
            </a:solidFill>
            <a:prstDash val="solid"/>
          </a:ln>
        </p:spPr>
      </p:sp>
      <p:sp>
        <p:nvSpPr>
          <p:cNvPr id="13" name="Shape 11"/>
          <p:cNvSpPr/>
          <p:nvPr/>
        </p:nvSpPr>
        <p:spPr>
          <a:xfrm>
            <a:off x="320040" y="2368296"/>
            <a:ext cx="64008" cy="566928"/>
          </a:xfrm>
          <a:prstGeom prst="rect">
            <a:avLst/>
          </a:prstGeom>
          <a:solidFill>
            <a:srgbClr val="1C7293"/>
          </a:solidFill>
          <a:ln w="12700">
            <a:solidFill>
              <a:srgbClr val="1C7293"/>
            </a:solidFill>
            <a:prstDash val="solid"/>
          </a:ln>
        </p:spPr>
      </p:sp>
      <p:sp>
        <p:nvSpPr>
          <p:cNvPr id="14" name="Text 12"/>
          <p:cNvSpPr/>
          <p:nvPr/>
        </p:nvSpPr>
        <p:spPr>
          <a:xfrm>
            <a:off x="457200" y="2404872"/>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Correlation Finding</a:t>
            </a:r>
            <a:endParaRPr lang="en-US" sz="1100" dirty="0"/>
          </a:p>
        </p:txBody>
      </p:sp>
      <p:sp>
        <p:nvSpPr>
          <p:cNvPr id="15" name="Text 13"/>
          <p:cNvSpPr/>
          <p:nvPr/>
        </p:nvSpPr>
        <p:spPr>
          <a:xfrm>
            <a:off x="2212848" y="2404872"/>
            <a:ext cx="6446520" cy="475488"/>
          </a:xfrm>
          <a:prstGeom prst="rect">
            <a:avLst/>
          </a:prstGeom>
          <a:noFill/>
          <a:ln/>
        </p:spPr>
        <p:txBody>
          <a:bodyPr wrap="square" rtlCol="0" anchor="ctr"/>
          <a:lstStyle/>
          <a:p>
            <a:pPr marL="0" indent="0">
              <a:buNone/>
            </a:pPr>
            <a:r>
              <a:rPr lang="en-US" sz="1050" dirty="0">
                <a:solidFill>
                  <a:srgbClr val="B0CCE0"/>
                </a:solidFill>
                <a:latin typeface="Calibri" pitchFamily="34" charset="0"/>
                <a:ea typeface="Calibri" pitchFamily="34" charset="-122"/>
                <a:cs typeface="Calibri" pitchFamily="34" charset="-120"/>
              </a:rPr>
              <a:t>Pairwise correlations between all numerical variables fall within −0.01 to +0.02, indicating virtually no linear relationships and minimal predictive signal for the target variable.</a:t>
            </a:r>
            <a:endParaRPr lang="en-US" sz="1050" dirty="0"/>
          </a:p>
        </p:txBody>
      </p:sp>
      <p:sp>
        <p:nvSpPr>
          <p:cNvPr id="16" name="Shape 14"/>
          <p:cNvSpPr/>
          <p:nvPr/>
        </p:nvSpPr>
        <p:spPr>
          <a:xfrm>
            <a:off x="320040" y="3026664"/>
            <a:ext cx="8458200" cy="566928"/>
          </a:xfrm>
          <a:prstGeom prst="rect">
            <a:avLst/>
          </a:prstGeom>
          <a:solidFill>
            <a:srgbClr val="1E3A5F"/>
          </a:solidFill>
          <a:ln w="12700">
            <a:solidFill>
              <a:srgbClr val="2C5480"/>
            </a:solidFill>
            <a:prstDash val="solid"/>
          </a:ln>
        </p:spPr>
      </p:sp>
      <p:sp>
        <p:nvSpPr>
          <p:cNvPr id="17" name="Shape 15"/>
          <p:cNvSpPr/>
          <p:nvPr/>
        </p:nvSpPr>
        <p:spPr>
          <a:xfrm>
            <a:off x="320040" y="3026664"/>
            <a:ext cx="64008" cy="566928"/>
          </a:xfrm>
          <a:prstGeom prst="rect">
            <a:avLst/>
          </a:prstGeom>
          <a:solidFill>
            <a:srgbClr val="1C7293"/>
          </a:solidFill>
          <a:ln w="12700">
            <a:solidFill>
              <a:srgbClr val="1C7293"/>
            </a:solidFill>
            <a:prstDash val="solid"/>
          </a:ln>
        </p:spPr>
      </p:sp>
      <p:sp>
        <p:nvSpPr>
          <p:cNvPr id="18" name="Text 16"/>
          <p:cNvSpPr/>
          <p:nvPr/>
        </p:nvSpPr>
        <p:spPr>
          <a:xfrm>
            <a:off x="457200" y="3063240"/>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Model Evaluation</a:t>
            </a:r>
            <a:endParaRPr lang="en-US" sz="1100" dirty="0"/>
          </a:p>
        </p:txBody>
      </p:sp>
      <p:sp>
        <p:nvSpPr>
          <p:cNvPr id="19" name="Text 17"/>
          <p:cNvSpPr/>
          <p:nvPr/>
        </p:nvSpPr>
        <p:spPr>
          <a:xfrm>
            <a:off x="2212848" y="3063240"/>
            <a:ext cx="6446520" cy="475488"/>
          </a:xfrm>
          <a:prstGeom prst="rect">
            <a:avLst/>
          </a:prstGeom>
          <a:noFill/>
          <a:ln/>
        </p:spPr>
        <p:txBody>
          <a:bodyPr wrap="square" rtlCol="0" anchor="ctr"/>
          <a:lstStyle/>
          <a:p>
            <a:pPr marL="0" indent="0">
              <a:buNone/>
            </a:pPr>
            <a:r>
              <a:rPr lang="en-US" sz="1050" dirty="0">
                <a:solidFill>
                  <a:srgbClr val="B0CCE0"/>
                </a:solidFill>
                <a:latin typeface="Calibri" pitchFamily="34" charset="0"/>
                <a:ea typeface="Calibri" pitchFamily="34" charset="-122"/>
                <a:cs typeface="Calibri" pitchFamily="34" charset="-120"/>
              </a:rPr>
              <a:t>Eight supervised ML models — Linear Regression, Lasso, Ridge, Elastic Net, Decision Tree, Random Forest, SVR, and KNN — were applied. All produced negative Test R² scores.</a:t>
            </a:r>
            <a:endParaRPr lang="en-US" sz="1050" dirty="0"/>
          </a:p>
        </p:txBody>
      </p:sp>
      <p:sp>
        <p:nvSpPr>
          <p:cNvPr id="20" name="Shape 18"/>
          <p:cNvSpPr/>
          <p:nvPr/>
        </p:nvSpPr>
        <p:spPr>
          <a:xfrm>
            <a:off x="320040" y="3685032"/>
            <a:ext cx="8458200" cy="566928"/>
          </a:xfrm>
          <a:prstGeom prst="rect">
            <a:avLst/>
          </a:prstGeom>
          <a:solidFill>
            <a:srgbClr val="1E3A5F"/>
          </a:solidFill>
          <a:ln w="12700">
            <a:solidFill>
              <a:srgbClr val="2C5480"/>
            </a:solidFill>
            <a:prstDash val="solid"/>
          </a:ln>
        </p:spPr>
      </p:sp>
      <p:sp>
        <p:nvSpPr>
          <p:cNvPr id="21" name="Shape 19"/>
          <p:cNvSpPr/>
          <p:nvPr/>
        </p:nvSpPr>
        <p:spPr>
          <a:xfrm>
            <a:off x="320040" y="3685032"/>
            <a:ext cx="64008" cy="566928"/>
          </a:xfrm>
          <a:prstGeom prst="rect">
            <a:avLst/>
          </a:prstGeom>
          <a:solidFill>
            <a:srgbClr val="1C7293"/>
          </a:solidFill>
          <a:ln w="12700">
            <a:solidFill>
              <a:srgbClr val="1C7293"/>
            </a:solidFill>
            <a:prstDash val="solid"/>
          </a:ln>
        </p:spPr>
      </p:sp>
      <p:sp>
        <p:nvSpPr>
          <p:cNvPr id="22" name="Text 20"/>
          <p:cNvSpPr/>
          <p:nvPr/>
        </p:nvSpPr>
        <p:spPr>
          <a:xfrm>
            <a:off x="457200" y="3721608"/>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Best Performing Model</a:t>
            </a:r>
            <a:endParaRPr lang="en-US" sz="1100" dirty="0"/>
          </a:p>
        </p:txBody>
      </p:sp>
      <p:sp>
        <p:nvSpPr>
          <p:cNvPr id="23" name="Text 21"/>
          <p:cNvSpPr/>
          <p:nvPr/>
        </p:nvSpPr>
        <p:spPr>
          <a:xfrm>
            <a:off x="2212848" y="3721608"/>
            <a:ext cx="6446520" cy="475488"/>
          </a:xfrm>
          <a:prstGeom prst="rect">
            <a:avLst/>
          </a:prstGeom>
          <a:noFill/>
          <a:ln/>
        </p:spPr>
        <p:txBody>
          <a:bodyPr wrap="square" rtlCol="0" anchor="ctr"/>
          <a:lstStyle/>
          <a:p>
            <a:pPr marL="0" indent="0">
              <a:buNone/>
            </a:pPr>
            <a:r>
              <a:rPr lang="en-US" sz="1050" dirty="0">
                <a:solidFill>
                  <a:srgbClr val="B0CCE0"/>
                </a:solidFill>
                <a:latin typeface="Calibri" pitchFamily="34" charset="0"/>
                <a:ea typeface="Calibri" pitchFamily="34" charset="-122"/>
                <a:cs typeface="Calibri" pitchFamily="34" charset="-120"/>
              </a:rPr>
              <a:t>Lasso Regression and Elastic Net achieved the highest Test R² (−0.0005), though performance remained statistically weak. Random Forest exhibited severe overfitting (Train R²: 0.857, Test R²: −0.035).</a:t>
            </a:r>
            <a:endParaRPr lang="en-US" sz="1050" dirty="0"/>
          </a:p>
        </p:txBody>
      </p:sp>
      <p:sp>
        <p:nvSpPr>
          <p:cNvPr id="24" name="Shape 22"/>
          <p:cNvSpPr/>
          <p:nvPr/>
        </p:nvSpPr>
        <p:spPr>
          <a:xfrm>
            <a:off x="320040" y="4343400"/>
            <a:ext cx="8458200" cy="566928"/>
          </a:xfrm>
          <a:prstGeom prst="rect">
            <a:avLst/>
          </a:prstGeom>
          <a:solidFill>
            <a:srgbClr val="0D3B5E"/>
          </a:solidFill>
          <a:ln w="12700">
            <a:solidFill>
              <a:srgbClr val="2C5480"/>
            </a:solidFill>
            <a:prstDash val="solid"/>
          </a:ln>
        </p:spPr>
      </p:sp>
      <p:sp>
        <p:nvSpPr>
          <p:cNvPr id="25" name="Shape 23"/>
          <p:cNvSpPr/>
          <p:nvPr/>
        </p:nvSpPr>
        <p:spPr>
          <a:xfrm>
            <a:off x="320040" y="4343400"/>
            <a:ext cx="64008" cy="566928"/>
          </a:xfrm>
          <a:prstGeom prst="rect">
            <a:avLst/>
          </a:prstGeom>
          <a:solidFill>
            <a:srgbClr val="1C7293"/>
          </a:solidFill>
          <a:ln w="12700">
            <a:solidFill>
              <a:srgbClr val="1C7293"/>
            </a:solidFill>
            <a:prstDash val="solid"/>
          </a:ln>
        </p:spPr>
      </p:sp>
      <p:sp>
        <p:nvSpPr>
          <p:cNvPr id="26" name="Text 24"/>
          <p:cNvSpPr/>
          <p:nvPr/>
        </p:nvSpPr>
        <p:spPr>
          <a:xfrm>
            <a:off x="457200" y="4379976"/>
            <a:ext cx="1691640" cy="475488"/>
          </a:xfrm>
          <a:prstGeom prst="rect">
            <a:avLst/>
          </a:prstGeom>
          <a:noFill/>
          <a:ln/>
        </p:spPr>
        <p:txBody>
          <a:bodyPr wrap="square" rtlCol="0" anchor="ctr"/>
          <a:lstStyle/>
          <a:p>
            <a:pPr marL="0" indent="0">
              <a:buNone/>
            </a:pPr>
            <a:r>
              <a:rPr lang="en-US" sz="1100" b="1" dirty="0">
                <a:solidFill>
                  <a:srgbClr val="A8D8EA"/>
                </a:solidFill>
                <a:latin typeface="Calibri" pitchFamily="34" charset="0"/>
                <a:ea typeface="Calibri" pitchFamily="34" charset="-122"/>
                <a:cs typeface="Calibri" pitchFamily="34" charset="-120"/>
              </a:rPr>
              <a:t>Final Verdict</a:t>
            </a:r>
            <a:endParaRPr lang="en-US" sz="1100" dirty="0"/>
          </a:p>
        </p:txBody>
      </p:sp>
      <p:sp>
        <p:nvSpPr>
          <p:cNvPr id="27" name="Text 25"/>
          <p:cNvSpPr/>
          <p:nvPr/>
        </p:nvSpPr>
        <p:spPr>
          <a:xfrm>
            <a:off x="2212848" y="4379976"/>
            <a:ext cx="6446520" cy="475488"/>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None of the supervised machine learning models best fit the dataset. The uniform data structure, near-zero feature correlations, and independently distributed target variable render the dataset unsuitable for reliable supervised regression under the given feature set.</a:t>
            </a:r>
            <a:endParaRPr lang="en-US" sz="1050" dirty="0"/>
          </a:p>
        </p:txBody>
      </p:sp>
      <p:sp>
        <p:nvSpPr>
          <p:cNvPr id="28" name="Text 26"/>
          <p:cNvSpPr/>
          <p:nvPr/>
        </p:nvSpPr>
        <p:spPr>
          <a:xfrm>
            <a:off x="365760" y="4846320"/>
            <a:ext cx="8412480" cy="22860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1740</Words>
  <Application>Microsoft Office PowerPoint</Application>
  <PresentationFormat>On-screen Show (16:9)</PresentationFormat>
  <Paragraphs>183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and Supervised Machine Learning</dc:title>
  <dc:subject>PptxGenJS Presentation</dc:subject>
  <dc:creator>PptxGenJS</dc:creator>
  <cp:lastModifiedBy>Namrata Chirag</cp:lastModifiedBy>
  <cp:revision>1</cp:revision>
  <dcterms:created xsi:type="dcterms:W3CDTF">2026-06-08T20:38:16Z</dcterms:created>
  <dcterms:modified xsi:type="dcterms:W3CDTF">2026-06-08T20:49:20Z</dcterms:modified>
</cp:coreProperties>
</file>